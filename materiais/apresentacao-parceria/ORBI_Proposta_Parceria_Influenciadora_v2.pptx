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-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Gusmão" userId="3e8a5fbdd121f0d0" providerId="LiveId" clId="{60664AB6-B868-48D5-8A9A-AF596951E2AA}"/>
    <pc:docChg chg="undo custSel modSld">
      <pc:chgData name="Gabriela Gusmão" userId="3e8a5fbdd121f0d0" providerId="LiveId" clId="{60664AB6-B868-48D5-8A9A-AF596951E2AA}" dt="2026-08-20T20:50:02.106" v="28" actId="1076"/>
      <pc:docMkLst>
        <pc:docMk/>
      </pc:docMkLst>
      <pc:sldChg chg="modSp mod">
        <pc:chgData name="Gabriela Gusmão" userId="3e8a5fbdd121f0d0" providerId="LiveId" clId="{60664AB6-B868-48D5-8A9A-AF596951E2AA}" dt="2026-08-20T20:46:15.540" v="1" actId="1076"/>
        <pc:sldMkLst>
          <pc:docMk/>
          <pc:sldMk cId="0" sldId="260"/>
        </pc:sldMkLst>
        <pc:picChg chg="mod">
          <ac:chgData name="Gabriela Gusmão" userId="3e8a5fbdd121f0d0" providerId="LiveId" clId="{60664AB6-B868-48D5-8A9A-AF596951E2AA}" dt="2026-08-20T20:46:15.540" v="1" actId="1076"/>
          <ac:picMkLst>
            <pc:docMk/>
            <pc:sldMk cId="0" sldId="260"/>
            <ac:picMk id="22" creationId="{00000000-0000-0000-0000-000000000000}"/>
          </ac:picMkLst>
        </pc:picChg>
      </pc:sldChg>
      <pc:sldChg chg="modSp mod">
        <pc:chgData name="Gabriela Gusmão" userId="3e8a5fbdd121f0d0" providerId="LiveId" clId="{60664AB6-B868-48D5-8A9A-AF596951E2AA}" dt="2026-08-20T20:50:02.106" v="28" actId="1076"/>
        <pc:sldMkLst>
          <pc:docMk/>
          <pc:sldMk cId="0" sldId="265"/>
        </pc:sldMkLst>
        <pc:spChg chg="mod">
          <ac:chgData name="Gabriela Gusmão" userId="3e8a5fbdd121f0d0" providerId="LiveId" clId="{60664AB6-B868-48D5-8A9A-AF596951E2AA}" dt="2026-08-20T20:46:49.885" v="6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7:40.328" v="14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7:47.018" v="15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49:57.914" v="27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Gabriela Gusmão" userId="3e8a5fbdd121f0d0" providerId="LiveId" clId="{60664AB6-B868-48D5-8A9A-AF596951E2AA}" dt="2026-08-20T20:50:02.106" v="28" actId="1076"/>
          <ac:spMkLst>
            <pc:docMk/>
            <pc:sldMk cId="0" sldId="265"/>
            <ac:spMk id="12" creationId="{00000000-0000-0000-0000-000000000000}"/>
          </ac:spMkLst>
        </pc:spChg>
        <pc:picChg chg="mod">
          <ac:chgData name="Gabriela Gusmão" userId="3e8a5fbdd121f0d0" providerId="LiveId" clId="{60664AB6-B868-48D5-8A9A-AF596951E2AA}" dt="2026-08-20T20:49:28.100" v="25" actId="1076"/>
          <ac:picMkLst>
            <pc:docMk/>
            <pc:sldMk cId="0" sldId="265"/>
            <ac:picMk id="1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63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9738" y="-3931920"/>
            <a:ext cx="14630400" cy="14630400"/>
          </a:xfrm>
          <a:prstGeom prst="ellipse">
            <a:avLst/>
          </a:prstGeom>
          <a:solidFill>
            <a:srgbClr val="16A34A">
              <a:alpha val="6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234138" y="-3017520"/>
            <a:ext cx="12801600" cy="12801600"/>
          </a:xfrm>
          <a:prstGeom prst="ellipse">
            <a:avLst/>
          </a:prstGeom>
          <a:solidFill>
            <a:srgbClr val="16A34A">
              <a:alpha val="7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148538" y="-2103120"/>
            <a:ext cx="10972800" cy="10972800"/>
          </a:xfrm>
          <a:prstGeom prst="ellipse">
            <a:avLst/>
          </a:prstGeom>
          <a:solidFill>
            <a:srgbClr val="16A34A">
              <a:alpha val="9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62938" y="-1188720"/>
            <a:ext cx="9144000" cy="9144000"/>
          </a:xfrm>
          <a:prstGeom prst="ellipse">
            <a:avLst/>
          </a:prstGeom>
          <a:solidFill>
            <a:srgbClr val="16A34A">
              <a:alpha val="11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977338" y="-274320"/>
            <a:ext cx="7315200" cy="7315200"/>
          </a:xfrm>
          <a:prstGeom prst="ellipse">
            <a:avLst/>
          </a:prstGeom>
          <a:solidFill>
            <a:srgbClr val="16A34A">
              <a:alpha val="13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891738" y="640080"/>
            <a:ext cx="5486400" cy="5486400"/>
          </a:xfrm>
          <a:prstGeom prst="ellipse">
            <a:avLst/>
          </a:prstGeom>
          <a:solidFill>
            <a:srgbClr val="16A34A">
              <a:alpha val="16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806138" y="1554480"/>
            <a:ext cx="3657600" cy="3657600"/>
          </a:xfrm>
          <a:prstGeom prst="ellipse">
            <a:avLst/>
          </a:prstGeom>
          <a:solidFill>
            <a:srgbClr val="16A34A">
              <a:alpha val="20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610810" y="2359152"/>
            <a:ext cx="2048256" cy="2048256"/>
          </a:xfrm>
          <a:prstGeom prst="ellipse">
            <a:avLst/>
          </a:prstGeom>
          <a:solidFill>
            <a:srgbClr val="16A34A">
              <a:alpha val="272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0" descr="C:/Users/gabri/OneDrive/Documentos/PROJETOS CLAUDE/getshapetraining/public/logos/orbi-logo-horizontal-dark-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"/>
            <a:ext cx="1697355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13487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PARCERIA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171450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Seus clientes.
Sua receita.
</a:t>
            </a:r>
            <a:r>
              <a:rPr lang="en-US" sz="5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marca.</a:t>
            </a:r>
            <a:endParaRPr lang="en-US" sz="5000" dirty="0"/>
          </a:p>
        </p:txBody>
      </p:sp>
      <p:sp>
        <p:nvSpPr>
          <p:cNvPr id="13" name="Text 10"/>
          <p:cNvSpPr/>
          <p:nvPr/>
        </p:nvSpPr>
        <p:spPr>
          <a:xfrm>
            <a:off x="822960" y="46863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plataforma white-label pra você ter seu próprio app de treino e dieta — sem precisar de um único desenvolvedor.</a:t>
            </a:r>
            <a:endParaRPr lang="en-US" sz="1500" dirty="0"/>
          </a:p>
        </p:txBody>
      </p:sp>
      <p:pic>
        <p:nvPicPr>
          <p:cNvPr id="14" name="Image 1" descr="C:/Users/gabri/OneDrive/Documentos/PROJETOS CLAUDE/getshapetraining/materiais/apresentacao-parceria/assets/cap_her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868680"/>
            <a:ext cx="475678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914400"/>
            <a:ext cx="9509760" cy="9509760"/>
          </a:xfrm>
          <a:prstGeom prst="ellipse">
            <a:avLst/>
          </a:prstGeom>
          <a:solidFill>
            <a:srgbClr val="16A34A">
              <a:alpha val="6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897880" y="-320040"/>
            <a:ext cx="8321040" cy="8321040"/>
          </a:xfrm>
          <a:prstGeom prst="ellipse">
            <a:avLst/>
          </a:prstGeom>
          <a:solidFill>
            <a:srgbClr val="16A34A">
              <a:alpha val="7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92240" y="274320"/>
            <a:ext cx="7132320" cy="7132320"/>
          </a:xfrm>
          <a:prstGeom prst="ellipse">
            <a:avLst/>
          </a:prstGeom>
          <a:solidFill>
            <a:srgbClr val="16A34A">
              <a:alpha val="9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086600" y="868680"/>
            <a:ext cx="5943600" cy="5943600"/>
          </a:xfrm>
          <a:prstGeom prst="ellipse">
            <a:avLst/>
          </a:prstGeom>
          <a:solidFill>
            <a:srgbClr val="16A34A">
              <a:alpha val="11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680960" y="1463040"/>
            <a:ext cx="4754880" cy="4754880"/>
          </a:xfrm>
          <a:prstGeom prst="ellipse">
            <a:avLst/>
          </a:prstGeom>
          <a:solidFill>
            <a:srgbClr val="16A34A">
              <a:alpha val="13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275320" y="2057400"/>
            <a:ext cx="3566160" cy="3566160"/>
          </a:xfrm>
          <a:prstGeom prst="ellipse">
            <a:avLst/>
          </a:prstGeom>
          <a:solidFill>
            <a:srgbClr val="16A34A">
              <a:alpha val="16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869680" y="2651760"/>
            <a:ext cx="2377440" cy="2377440"/>
          </a:xfrm>
          <a:prstGeom prst="ellipse">
            <a:avLst/>
          </a:prstGeom>
          <a:solidFill>
            <a:srgbClr val="16A34A">
              <a:alpha val="20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392717" y="3174797"/>
            <a:ext cx="1331366" cy="1331366"/>
          </a:xfrm>
          <a:prstGeom prst="ellipse">
            <a:avLst/>
          </a:prstGeom>
          <a:solidFill>
            <a:srgbClr val="16A34A">
              <a:alpha val="27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ferramenta que você usa define o valor que o mercado enxerga em você.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68680" y="2999232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68680" y="29443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916936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 mandado em PDF avulso ou print de planilha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3685032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68680" y="36301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602736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manual pelo WhatsApp, sem controle de quem pagou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370832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68680" y="43159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4288536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identidade visual própria — parece amador pro cliente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5056632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68680" y="50017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4974336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histórico de evolução organizado, sem dado pra reter aluno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49640" y="2331720"/>
            <a:ext cx="3017520" cy="3063240"/>
          </a:xfrm>
          <a:prstGeom prst="roundRect">
            <a:avLst>
              <a:gd name="adj" fmla="val 4242"/>
            </a:avLst>
          </a:prstGeom>
          <a:solidFill>
            <a:srgbClr val="0B141A"/>
          </a:solidFill>
          <a:ln w="12700">
            <a:solidFill>
              <a:srgbClr val="2A3942"/>
            </a:solidFill>
            <a:prstDash val="solid"/>
          </a:ln>
          <a:effectLst>
            <a:outerShdw blurRad="304800" dist="1270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732520" y="2514600"/>
            <a:ext cx="310896" cy="310896"/>
          </a:xfrm>
          <a:prstGeom prst="ellipse">
            <a:avLst/>
          </a:prstGeom>
          <a:solidFill>
            <a:srgbClr val="3A4A5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73252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34856" y="249631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Trainer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34856" y="268833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visto por último hoje às 21:40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732520" y="2971800"/>
            <a:ext cx="2651760" cy="0"/>
          </a:xfrm>
          <a:prstGeom prst="line">
            <a:avLst/>
          </a:prstGeom>
          <a:noFill/>
          <a:ln w="9525">
            <a:solidFill>
              <a:srgbClr val="2A39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8732520" y="3136392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F2C3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842248" y="3191256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Chegou meu treino?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52560" y="3666744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005C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9162288" y="3712464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Chegou! Segue o treino: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62288" y="3931920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8B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9162288" y="3931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9454896" y="395020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mesociclo3.pdf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732520" y="4379976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1F2C3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842248" y="4434840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pagamento desse mês, como faço?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732520" y="50932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digitando...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549640" y="5532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ferramenta própria, você compete por preço — não por marca.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34840" y="-1188720"/>
            <a:ext cx="8778240" cy="877824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983480" y="-640080"/>
            <a:ext cx="7680960" cy="768096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532120" y="-91440"/>
            <a:ext cx="6583680" cy="658368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080760" y="457200"/>
            <a:ext cx="5486400" cy="54864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629400" y="1005840"/>
            <a:ext cx="4389120" cy="438912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178040" y="1554480"/>
            <a:ext cx="3291840" cy="329184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26680" y="2103120"/>
            <a:ext cx="2194560" cy="219456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209483" y="2585923"/>
            <a:ext cx="1228954" cy="1228954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1430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com uma ferramenta profissional de verdade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22960" y="260604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141417"/>
          </a:solidFill>
          <a:ln w="12700">
            <a:solidFill>
              <a:srgbClr val="2323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3456432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097280" y="34015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33741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+ PDF + WhatsApp separados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4023360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097280" y="396849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39410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manual, sem previsibilidade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7280" y="4590288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097280" y="453542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45079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marca — só mais um “personal”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5157216"/>
            <a:ext cx="201168" cy="201168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097280" y="510235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5074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 cancela sem você perceber a tempo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260604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141417"/>
          </a:solidFill>
          <a:ln w="1905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3796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— COM A ORBI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37960" y="345643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537960" y="34015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33741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com a sua identidade visual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37960" y="4023360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537960" y="396849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39410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recorrente automatizada (PIX/cartão)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37960" y="4590288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537960" y="453542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45079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parece — e é — uma empresa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37960" y="5157216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537960" y="510235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5074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e engajamento monitorados no painel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1645920"/>
            <a:ext cx="5852160" cy="5852160"/>
          </a:xfrm>
          <a:prstGeom prst="ellipse">
            <a:avLst/>
          </a:prstGeom>
          <a:solidFill>
            <a:srgbClr val="16A34A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474720" y="2011680"/>
            <a:ext cx="5120640" cy="5120640"/>
          </a:xfrm>
          <a:prstGeom prst="ellipse">
            <a:avLst/>
          </a:prstGeom>
          <a:solidFill>
            <a:srgbClr val="16A34A">
              <a:alpha val="5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840480" y="2377440"/>
            <a:ext cx="4389120" cy="4389120"/>
          </a:xfrm>
          <a:prstGeom prst="ellipse">
            <a:avLst/>
          </a:prstGeom>
          <a:solidFill>
            <a:srgbClr val="16A34A">
              <a:alpha val="6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206240" y="2743200"/>
            <a:ext cx="3657600" cy="3657600"/>
          </a:xfrm>
          <a:prstGeom prst="ellipse">
            <a:avLst/>
          </a:prstGeom>
          <a:solidFill>
            <a:srgbClr val="16A34A">
              <a:alpha val="8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0" y="3108960"/>
            <a:ext cx="2926080" cy="2926080"/>
          </a:xfrm>
          <a:prstGeom prst="ellipse">
            <a:avLst/>
          </a:prstGeom>
          <a:solidFill>
            <a:srgbClr val="16A34A">
              <a:alpha val="10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937760" y="3474720"/>
            <a:ext cx="2194560" cy="2194560"/>
          </a:xfrm>
          <a:prstGeom prst="ellipse">
            <a:avLst/>
          </a:prstGeom>
          <a:solidFill>
            <a:srgbClr val="16A34A">
              <a:alpha val="13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303520" y="3840480"/>
            <a:ext cx="1463040" cy="1463040"/>
          </a:xfrm>
          <a:prstGeom prst="ellipse">
            <a:avLst/>
          </a:prstGeom>
          <a:solidFill>
            <a:srgbClr val="16A34A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625389" y="4162349"/>
            <a:ext cx="819302" cy="819302"/>
          </a:xfrm>
          <a:prstGeom prst="ellipse">
            <a:avLst/>
          </a:prstGeom>
          <a:solidFill>
            <a:srgbClr val="16A34A">
              <a:alpha val="24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868680"/>
            <a:ext cx="12191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app. Sua marca. Sua cor.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737360" y="146304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treinador tem sua própria identidade visual. O aluno nem sabe que é a mesma plataforma.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158088" y="217627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58088" y="21214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78128" y="209397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Logo, cores e nome próprios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49928" y="217627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449928" y="21214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9968" y="209397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exclusiva pra sua marca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41768" y="217627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741768" y="21214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61808" y="209397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na App Store / Google Play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92883" y="2743200"/>
            <a:ext cx="3657600" cy="3657600"/>
          </a:xfrm>
          <a:prstGeom prst="ellipse">
            <a:avLst/>
          </a:prstGeom>
          <a:solidFill>
            <a:srgbClr val="EF4444">
              <a:alpha val="6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421483" y="2971800"/>
            <a:ext cx="3200400" cy="3200400"/>
          </a:xfrm>
          <a:prstGeom prst="ellipse">
            <a:avLst/>
          </a:prstGeom>
          <a:solidFill>
            <a:srgbClr val="EF4444">
              <a:alpha val="7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2650083" y="3200400"/>
            <a:ext cx="2743200" cy="2743200"/>
          </a:xfrm>
          <a:prstGeom prst="ellipse">
            <a:avLst/>
          </a:prstGeom>
          <a:solidFill>
            <a:srgbClr val="EF4444">
              <a:alpha val="9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2878683" y="3429000"/>
            <a:ext cx="2286000" cy="2286000"/>
          </a:xfrm>
          <a:prstGeom prst="ellipse">
            <a:avLst/>
          </a:prstGeom>
          <a:solidFill>
            <a:srgbClr val="EF4444">
              <a:alpha val="11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107283" y="3657600"/>
            <a:ext cx="1828800" cy="1828800"/>
          </a:xfrm>
          <a:prstGeom prst="ellipse">
            <a:avLst/>
          </a:prstGeom>
          <a:solidFill>
            <a:srgbClr val="EF4444">
              <a:alpha val="13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335883" y="3886200"/>
            <a:ext cx="1371600" cy="1371600"/>
          </a:xfrm>
          <a:prstGeom prst="ellipse">
            <a:avLst/>
          </a:prstGeom>
          <a:solidFill>
            <a:srgbClr val="EF4444">
              <a:alpha val="16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3564483" y="4114800"/>
            <a:ext cx="914400" cy="914400"/>
          </a:xfrm>
          <a:prstGeom prst="ellipse">
            <a:avLst/>
          </a:prstGeom>
          <a:solidFill>
            <a:srgbClr val="EF4444">
              <a:alpha val="20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3765651" y="4315968"/>
            <a:ext cx="512064" cy="512064"/>
          </a:xfrm>
          <a:prstGeom prst="ellipse">
            <a:avLst/>
          </a:prstGeom>
          <a:solidFill>
            <a:srgbClr val="EF4444">
              <a:alpha val="27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992728" y="2468880"/>
            <a:ext cx="4206240" cy="420624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255618" y="2731770"/>
            <a:ext cx="3680460" cy="3680460"/>
          </a:xfrm>
          <a:prstGeom prst="ellipse">
            <a:avLst/>
          </a:prstGeom>
          <a:solidFill>
            <a:srgbClr val="3B82F6">
              <a:alpha val="8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518508" y="2994660"/>
            <a:ext cx="3154680" cy="3154680"/>
          </a:xfrm>
          <a:prstGeom prst="ellipse">
            <a:avLst/>
          </a:prstGeom>
          <a:solidFill>
            <a:srgbClr val="3B82F6">
              <a:alpha val="9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4781398" y="3257550"/>
            <a:ext cx="2628900" cy="2628900"/>
          </a:xfrm>
          <a:prstGeom prst="ellipse">
            <a:avLst/>
          </a:prstGeom>
          <a:solidFill>
            <a:srgbClr val="3B82F6">
              <a:alpha val="11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044288" y="3520440"/>
            <a:ext cx="2103120" cy="2103120"/>
          </a:xfrm>
          <a:prstGeom prst="ellipse">
            <a:avLst/>
          </a:prstGeom>
          <a:solidFill>
            <a:srgbClr val="3B82F6">
              <a:alpha val="13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5307178" y="3783330"/>
            <a:ext cx="1577340" cy="1577340"/>
          </a:xfrm>
          <a:prstGeom prst="ellipse">
            <a:avLst/>
          </a:prstGeom>
          <a:solidFill>
            <a:srgbClr val="3B82F6">
              <a:alpha val="16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5570068" y="4046220"/>
            <a:ext cx="1051560" cy="1051560"/>
          </a:xfrm>
          <a:prstGeom prst="ellipse">
            <a:avLst/>
          </a:prstGeom>
          <a:solidFill>
            <a:srgbClr val="3B82F6">
              <a:alpha val="21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5801411" y="4277563"/>
            <a:ext cx="588874" cy="588874"/>
          </a:xfrm>
          <a:prstGeom prst="ellipse">
            <a:avLst/>
          </a:prstGeom>
          <a:solidFill>
            <a:srgbClr val="3B82F6">
              <a:alpha val="27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341212" y="2743200"/>
            <a:ext cx="3657600" cy="3657600"/>
          </a:xfrm>
          <a:prstGeom prst="ellipse">
            <a:avLst/>
          </a:prstGeom>
          <a:solidFill>
            <a:srgbClr val="F59E0B">
              <a:alpha val="6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6569812" y="2971800"/>
            <a:ext cx="3200400" cy="3200400"/>
          </a:xfrm>
          <a:prstGeom prst="ellipse">
            <a:avLst/>
          </a:prstGeom>
          <a:solidFill>
            <a:srgbClr val="F59E0B">
              <a:alpha val="7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798412" y="3200400"/>
            <a:ext cx="2743200" cy="2743200"/>
          </a:xfrm>
          <a:prstGeom prst="ellipse">
            <a:avLst/>
          </a:prstGeom>
          <a:solidFill>
            <a:srgbClr val="F59E0B">
              <a:alpha val="9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7027012" y="3429000"/>
            <a:ext cx="2286000" cy="2286000"/>
          </a:xfrm>
          <a:prstGeom prst="ellipse">
            <a:avLst/>
          </a:prstGeom>
          <a:solidFill>
            <a:srgbClr val="F59E0B">
              <a:alpha val="11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7255612" y="3657600"/>
            <a:ext cx="1828800" cy="1828800"/>
          </a:xfrm>
          <a:prstGeom prst="ellipse">
            <a:avLst/>
          </a:prstGeom>
          <a:solidFill>
            <a:srgbClr val="F59E0B">
              <a:alpha val="13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484212" y="3886200"/>
            <a:ext cx="1371600" cy="1371600"/>
          </a:xfrm>
          <a:prstGeom prst="ellipse">
            <a:avLst/>
          </a:prstGeom>
          <a:solidFill>
            <a:srgbClr val="F59E0B">
              <a:alpha val="16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7712812" y="4114800"/>
            <a:ext cx="914400" cy="914400"/>
          </a:xfrm>
          <a:prstGeom prst="ellipse">
            <a:avLst/>
          </a:prstGeom>
          <a:solidFill>
            <a:srgbClr val="F59E0B">
              <a:alpha val="20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7913980" y="4315968"/>
            <a:ext cx="512064" cy="512064"/>
          </a:xfrm>
          <a:prstGeom prst="ellipse">
            <a:avLst/>
          </a:prstGeom>
          <a:solidFill>
            <a:srgbClr val="F59E0B">
              <a:alpha val="272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6" name="Image 0" descr="C:/Users/gabri/OneDrive/Documentos/PROJETOS CLAUDE/getshapetraining/materiais/apresentacao-parceria/assets/cap_whitelabel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174" y="2697480"/>
            <a:ext cx="6285347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-868680"/>
            <a:ext cx="8778240" cy="877824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937760" y="-320040"/>
            <a:ext cx="7680960" cy="768096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486400" y="228600"/>
            <a:ext cx="6583680" cy="658368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035040" y="777240"/>
            <a:ext cx="5486400" cy="54864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4389120" cy="438912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132320" y="1874520"/>
            <a:ext cx="3291840" cy="329184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680960" y="2423160"/>
            <a:ext cx="2194560" cy="219456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163763" y="2905963"/>
            <a:ext cx="1228954" cy="1228954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097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 pelo WhatsApp sem controle financeiro?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Receba, controle e cresça. Cobranças, vencimentos e inadimplência direto no painel — automático, profissional, com a sua marca.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77647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8680" y="37216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6941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 e cartão tokenizado direto no seu checkout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343400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42885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42611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automático de cobrança vencida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4910328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68680" y="48554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8280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Bloqueio de acesso do aluno por inadimplência</a:t>
            </a:r>
            <a:endParaRPr lang="en-US" sz="1400" dirty="0"/>
          </a:p>
        </p:txBody>
      </p:sp>
      <p:pic>
        <p:nvPicPr>
          <p:cNvPr id="22" name="Image 0" descr="C:/Users/gabri/OneDrive/Documentos/PROJETOS CLAUDE/getshapetraining/materiais/apresentacao-parceria/assets/cap_financeir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529" y="1783080"/>
            <a:ext cx="598742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-978408"/>
            <a:ext cx="8778240" cy="877824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937760" y="-429768"/>
            <a:ext cx="7680960" cy="768096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486400" y="118872"/>
            <a:ext cx="6583680" cy="658368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035040" y="667512"/>
            <a:ext cx="5486400" cy="54864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583680" y="1216152"/>
            <a:ext cx="4389120" cy="438912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132320" y="1764792"/>
            <a:ext cx="3291840" cy="329184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680960" y="2313432"/>
            <a:ext cx="2194560" cy="219456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163763" y="2796235"/>
            <a:ext cx="1228954" cy="1228954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DO TREINADOR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097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Comande sua consultoria como uma empresa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completa dos seus clientes, cobranças, anamneses e atualizações pendentes — tudo num só lugar, em tempo real.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77647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8680" y="37216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6941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Veja em um único lugar clientes ativos, anamneses e planos vencendo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343400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42885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42611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tempo operacional, mais tempo treinando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4910328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68680" y="48554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8280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sem perder controle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89320" y="11887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tarde, Diego!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89320" y="1444752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de hoje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1645920"/>
            <a:ext cx="3669792" cy="1596542"/>
          </a:xfrm>
          <a:prstGeom prst="roundRect">
            <a:avLst>
              <a:gd name="adj" fmla="val 6873"/>
            </a:avLst>
          </a:prstGeom>
          <a:solidFill>
            <a:srgbClr val="17191A"/>
          </a:solidFill>
          <a:ln w="12700">
            <a:solidFill>
              <a:srgbClr val="27292B"/>
            </a:solidFill>
            <a:prstDash val="solid"/>
          </a:ln>
          <a:effectLst>
            <a:outerShdw blurRad="254000" dist="10160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172200" y="1828800"/>
            <a:ext cx="3304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A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72200" y="2029968"/>
            <a:ext cx="330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R$ 23.650,00</a:t>
            </a:r>
            <a:r>
              <a:rPr lang="en-US" sz="1000" dirty="0">
                <a:solidFill>
                  <a:srgbClr val="8A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recebido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172200" y="2322576"/>
            <a:ext cx="3304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R$ 480</a:t>
            </a:r>
            <a:r>
              <a:rPr lang="en-US" sz="850" dirty="0">
                <a:solidFill>
                  <a:srgbClr val="8A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pendente   </a:t>
            </a:r>
            <a:r>
              <a:rPr lang="en-US" sz="11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</a:t>
            </a:r>
            <a:r>
              <a:rPr lang="en-US" sz="850" dirty="0">
                <a:solidFill>
                  <a:srgbClr val="8A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vencido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72200" y="2785262"/>
            <a:ext cx="275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recebimento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927592" y="278526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2986430"/>
            <a:ext cx="3304032" cy="64008"/>
          </a:xfrm>
          <a:prstGeom prst="roundRect">
            <a:avLst>
              <a:gd name="adj" fmla="val 50000"/>
            </a:avLst>
          </a:prstGeom>
          <a:solidFill>
            <a:srgbClr val="2326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172200" y="2986430"/>
            <a:ext cx="3237951" cy="64008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9805416" y="1645920"/>
            <a:ext cx="1761744" cy="725119"/>
          </a:xfrm>
          <a:prstGeom prst="roundRect">
            <a:avLst>
              <a:gd name="adj" fmla="val 10088"/>
            </a:avLst>
          </a:prstGeom>
          <a:solidFill>
            <a:srgbClr val="141417"/>
          </a:solidFill>
          <a:ln w="12700">
            <a:solidFill>
              <a:srgbClr val="2323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9942576" y="1773936"/>
            <a:ext cx="1487424" cy="362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942576" y="2066489"/>
            <a:ext cx="1487424" cy="24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805416" y="2517343"/>
            <a:ext cx="1761744" cy="725119"/>
          </a:xfrm>
          <a:prstGeom prst="roundRect">
            <a:avLst>
              <a:gd name="adj" fmla="val 10088"/>
            </a:avLst>
          </a:prstGeom>
          <a:solidFill>
            <a:srgbClr val="141417"/>
          </a:solidFill>
          <a:ln w="12700">
            <a:solidFill>
              <a:srgbClr val="2323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9942576" y="2645359"/>
            <a:ext cx="1487424" cy="362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942576" y="2937912"/>
            <a:ext cx="1487424" cy="24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3388766"/>
            <a:ext cx="1761744" cy="842620"/>
          </a:xfrm>
          <a:prstGeom prst="roundRect">
            <a:avLst>
              <a:gd name="adj" fmla="val 8681"/>
            </a:avLst>
          </a:prstGeom>
          <a:solidFill>
            <a:srgbClr val="141417"/>
          </a:solidFill>
          <a:ln w="12700">
            <a:solidFill>
              <a:srgbClr val="2323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126480" y="3516782"/>
            <a:ext cx="1487424" cy="4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126480" y="3877486"/>
            <a:ext cx="1487424" cy="28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Atualizações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897368" y="3388766"/>
            <a:ext cx="1761744" cy="842620"/>
          </a:xfrm>
          <a:prstGeom prst="roundRect">
            <a:avLst>
              <a:gd name="adj" fmla="val 8681"/>
            </a:avLst>
          </a:prstGeom>
          <a:solidFill>
            <a:srgbClr val="141417"/>
          </a:solidFill>
          <a:ln w="12700">
            <a:solidFill>
              <a:srgbClr val="2323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034528" y="3516782"/>
            <a:ext cx="1487424" cy="4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034528" y="3877486"/>
            <a:ext cx="1487424" cy="28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hoje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805416" y="3388766"/>
            <a:ext cx="1761744" cy="842620"/>
          </a:xfrm>
          <a:prstGeom prst="roundRect">
            <a:avLst>
              <a:gd name="adj" fmla="val 8681"/>
            </a:avLst>
          </a:prstGeom>
          <a:solidFill>
            <a:srgbClr val="141417"/>
          </a:solidFill>
          <a:ln w="12700">
            <a:solidFill>
              <a:srgbClr val="2323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9942576" y="3516782"/>
            <a:ext cx="1487424" cy="42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942576" y="3877486"/>
            <a:ext cx="1487424" cy="28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Anamneses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989320" y="4377690"/>
            <a:ext cx="5577840" cy="1099566"/>
          </a:xfrm>
          <a:prstGeom prst="roundRect">
            <a:avLst>
              <a:gd name="adj" fmla="val 9979"/>
            </a:avLst>
          </a:prstGeom>
          <a:solidFill>
            <a:srgbClr val="17191A"/>
          </a:solidFill>
          <a:ln w="12700">
            <a:solidFill>
              <a:srgbClr val="272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172200" y="450570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Vencendo  </a:t>
            </a:r>
            <a:r>
              <a:rPr lang="en-US" sz="9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72200" y="479831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Juliana Prado — vence em 3 dias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72200" y="505434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Thiago Nunes — vence em 6 dias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ORBI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Ainda manda treino por PDF?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Treinos personalizados direto no app — com vídeo de execução e séries organizadas por tipo (warm-up, feeder, work set, técnicas avançadas), registradas automaticamente.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8680" y="377647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37216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36941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Progressão de carga registrada sozinha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343400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68680" y="42885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42611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PDF, zero print de planilha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54328" y="251460"/>
            <a:ext cx="6217920" cy="6217920"/>
          </a:xfrm>
          <a:prstGeom prst="ellipse">
            <a:avLst/>
          </a:prstGeom>
          <a:solidFill>
            <a:srgbClr val="16A34A">
              <a:alpha val="6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42948" y="640080"/>
            <a:ext cx="5440680" cy="5440680"/>
          </a:xfrm>
          <a:prstGeom prst="ellipse">
            <a:avLst/>
          </a:prstGeom>
          <a:solidFill>
            <a:srgbClr val="16A34A">
              <a:alpha val="7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831568" y="1028700"/>
            <a:ext cx="4663440" cy="4663440"/>
          </a:xfrm>
          <a:prstGeom prst="ellipse">
            <a:avLst/>
          </a:prstGeom>
          <a:solidFill>
            <a:srgbClr val="16A34A">
              <a:alpha val="8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220188" y="1417320"/>
            <a:ext cx="3886200" cy="3886200"/>
          </a:xfrm>
          <a:prstGeom prst="ellipse">
            <a:avLst/>
          </a:prstGeom>
          <a:solidFill>
            <a:srgbClr val="16A34A">
              <a:alpha val="10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608808" y="1805940"/>
            <a:ext cx="3108960" cy="3108960"/>
          </a:xfrm>
          <a:prstGeom prst="ellipse">
            <a:avLst/>
          </a:prstGeom>
          <a:solidFill>
            <a:srgbClr val="16A34A">
              <a:alpha val="12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997428" y="2194560"/>
            <a:ext cx="2331720" cy="2331720"/>
          </a:xfrm>
          <a:prstGeom prst="ellipse">
            <a:avLst/>
          </a:prstGeom>
          <a:solidFill>
            <a:srgbClr val="16A34A">
              <a:alpha val="159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386048" y="2583180"/>
            <a:ext cx="1554480" cy="1554480"/>
          </a:xfrm>
          <a:prstGeom prst="ellipse">
            <a:avLst/>
          </a:prstGeom>
          <a:solidFill>
            <a:srgbClr val="16A34A">
              <a:alpha val="2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728034" y="2925166"/>
            <a:ext cx="870509" cy="870509"/>
          </a:xfrm>
          <a:prstGeom prst="ellipse">
            <a:avLst/>
          </a:prstGeom>
          <a:solidFill>
            <a:srgbClr val="16A34A">
              <a:alpha val="269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0" descr="C:/Users/gabri/OneDrive/Documentos/PROJETOS CLAUDE/getshapetraining/materiais/apresentacao-parceria/assets/cap_treino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914400"/>
            <a:ext cx="2598896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 ALUNO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que seu aluno precisa, num único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 com vídeo, dieta com substituição, cardio prescrito e evolução de carga — direto no celular, com a sua marca.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8680" y="382219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37673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37398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 premium retém aluno por mais tempo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389120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68680" y="43342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430682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dúvida, menos mensagem, mais autonomia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4949" y="960120"/>
            <a:ext cx="4754880" cy="475488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602129" y="1257300"/>
            <a:ext cx="4160520" cy="416052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899309" y="1554480"/>
            <a:ext cx="3566160" cy="356616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196489" y="1851660"/>
            <a:ext cx="2971800" cy="29718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93669" y="2148840"/>
            <a:ext cx="2377440" cy="237744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790849" y="2446020"/>
            <a:ext cx="1783080" cy="178308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88029" y="2743200"/>
            <a:ext cx="1188720" cy="118872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349547" y="3004718"/>
            <a:ext cx="665683" cy="665683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096726" y="960120"/>
            <a:ext cx="4754880" cy="475488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393906" y="1257300"/>
            <a:ext cx="4160520" cy="416052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691086" y="1554480"/>
            <a:ext cx="3566160" cy="356616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988266" y="1851660"/>
            <a:ext cx="2971800" cy="29718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285446" y="2148840"/>
            <a:ext cx="2377440" cy="237744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582626" y="2446020"/>
            <a:ext cx="1783080" cy="178308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879806" y="2743200"/>
            <a:ext cx="1188720" cy="118872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0141325" y="3004718"/>
            <a:ext cx="665683" cy="665683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0" descr="C:/Users/gabri/OneDrive/Documentos/PROJETOS CLAUDE/getshapetraining/materiais/apresentacao-parceria/assets/cap_dashboardaluno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97280"/>
            <a:ext cx="2380298" cy="4480560"/>
          </a:xfrm>
          <a:prstGeom prst="rect">
            <a:avLst/>
          </a:prstGeom>
        </p:spPr>
      </p:pic>
      <p:pic>
        <p:nvPicPr>
          <p:cNvPr id="28" name="Image 1" descr="C:/Users/gabri/OneDrive/Documentos/PROJETOS CLAUDE/getshapetraining/materiais/apresentacao-parceria/assets/cap_dieta_m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018" y="1097280"/>
            <a:ext cx="238029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 ALUNO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 prescrito e evolução, sempre à mão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de cardio com intensidade prescrita e histórico de carga por exercício — o aluno vê a própria evolução, sem precisar perguntar pra você.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8680" y="382219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37673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37398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Motivação: progresso visível reduz desistência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389120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68680" y="43342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430682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 prescrito, não genérico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4949" y="960120"/>
            <a:ext cx="4754880" cy="475488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602129" y="1257300"/>
            <a:ext cx="4160520" cy="416052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899309" y="1554480"/>
            <a:ext cx="3566160" cy="356616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196489" y="1851660"/>
            <a:ext cx="2971800" cy="29718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93669" y="2148840"/>
            <a:ext cx="2377440" cy="237744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790849" y="2446020"/>
            <a:ext cx="1783080" cy="178308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88029" y="2743200"/>
            <a:ext cx="1188720" cy="118872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349547" y="3004718"/>
            <a:ext cx="665683" cy="665683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096726" y="960120"/>
            <a:ext cx="4754880" cy="475488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393906" y="1257300"/>
            <a:ext cx="4160520" cy="416052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691086" y="1554480"/>
            <a:ext cx="3566160" cy="356616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988266" y="1851660"/>
            <a:ext cx="2971800" cy="29718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285446" y="2148840"/>
            <a:ext cx="2377440" cy="237744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582626" y="2446020"/>
            <a:ext cx="1783080" cy="178308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879806" y="2743200"/>
            <a:ext cx="1188720" cy="118872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0141325" y="3004718"/>
            <a:ext cx="665683" cy="665683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0" descr="C:/Users/gabri/OneDrive/Documentos/PROJETOS CLAUDE/getshapetraining/materiais/apresentacao-parceria/assets/cap_cardio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97280"/>
            <a:ext cx="2380298" cy="4480560"/>
          </a:xfrm>
          <a:prstGeom prst="rect">
            <a:avLst/>
          </a:prstGeom>
        </p:spPr>
      </p:pic>
      <p:pic>
        <p:nvPicPr>
          <p:cNvPr id="28" name="Image 1" descr="C:/Users/gabri/OneDrive/Documentos/PROJETOS CLAUDE/getshapetraining/materiais/apresentacao-parceria/assets/cap_evolucao_m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018" y="1097280"/>
            <a:ext cx="238029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-182880"/>
            <a:ext cx="8778240" cy="877824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2286000" y="365760"/>
            <a:ext cx="7680960" cy="768096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834640" y="914400"/>
            <a:ext cx="6583680" cy="658368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383280" y="1463040"/>
            <a:ext cx="5486400" cy="54864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931920" y="2011680"/>
            <a:ext cx="4389120" cy="438912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480560" y="2560320"/>
            <a:ext cx="3291840" cy="329184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029200" y="3108960"/>
            <a:ext cx="2194560" cy="219456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512003" y="3591763"/>
            <a:ext cx="1228954" cy="1228954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438400" y="3886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560461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equipe inteira, numa só plataforma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54480" y="1015433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Treinadores, nutricionistas e estagiários — cada um com o acesso certo.</a:t>
            </a:r>
            <a:endParaRPr lang="en-US" sz="1450" dirty="0"/>
          </a:p>
        </p:txBody>
      </p:sp>
      <p:pic>
        <p:nvPicPr>
          <p:cNvPr id="13" name="Image 0" descr="C:/Users/gabri/OneDrive/Documentos/PROJETOS CLAUDE/getshapetraining/materiais/apresentacao-parceria/assets/cap_colaboradores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431" y="1830751"/>
            <a:ext cx="6808098" cy="438271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188720" y="633679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1188720" y="62819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508760" y="62544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Permissões granulares por colaborador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17720" y="633679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617720" y="62819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37760" y="62544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Multi-profissional no mesmo painel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46720" y="6336792"/>
            <a:ext cx="201168" cy="201168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8046720" y="62819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366760" y="62544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visível só pra você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-1600200"/>
            <a:ext cx="10058400" cy="10058400"/>
          </a:xfrm>
          <a:prstGeom prst="ellipse">
            <a:avLst/>
          </a:prstGeom>
          <a:solidFill>
            <a:srgbClr val="16A34A">
              <a:alpha val="5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34490" y="-971550"/>
            <a:ext cx="8801100" cy="8801100"/>
          </a:xfrm>
          <a:prstGeom prst="ellipse">
            <a:avLst/>
          </a:prstGeom>
          <a:solidFill>
            <a:srgbClr val="16A34A">
              <a:alpha val="67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263140" y="-342900"/>
            <a:ext cx="7543800" cy="7543800"/>
          </a:xfrm>
          <a:prstGeom prst="ellipse">
            <a:avLst/>
          </a:prstGeom>
          <a:solidFill>
            <a:srgbClr val="16A34A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891790" y="285750"/>
            <a:ext cx="6286500" cy="6286500"/>
          </a:xfrm>
          <a:prstGeom prst="ellipse">
            <a:avLst/>
          </a:prstGeom>
          <a:solidFill>
            <a:srgbClr val="16A34A">
              <a:alpha val="98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520440" y="914400"/>
            <a:ext cx="5029200" cy="5029200"/>
          </a:xfrm>
          <a:prstGeom prst="ellipse">
            <a:avLst/>
          </a:prstGeom>
          <a:solidFill>
            <a:srgbClr val="16A34A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49090" y="1543050"/>
            <a:ext cx="3771900" cy="3771900"/>
          </a:xfrm>
          <a:prstGeom prst="ellipse">
            <a:avLst/>
          </a:prstGeom>
          <a:solidFill>
            <a:srgbClr val="16A34A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777740" y="2171700"/>
            <a:ext cx="2514600" cy="2514600"/>
          </a:xfrm>
          <a:prstGeom prst="ellipse">
            <a:avLst/>
          </a:prstGeom>
          <a:solidFill>
            <a:srgbClr val="16A34A">
              <a:alpha val="19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330952" y="2724912"/>
            <a:ext cx="1408176" cy="1408176"/>
          </a:xfrm>
          <a:prstGeom prst="ellipse">
            <a:avLst/>
          </a:prstGeom>
          <a:solidFill>
            <a:srgbClr val="16A34A">
              <a:alpha val="2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188720" y="1188720"/>
            <a:ext cx="9811512" cy="4480560"/>
          </a:xfrm>
          <a:prstGeom prst="roundRect">
            <a:avLst>
              <a:gd name="adj" fmla="val 3061"/>
            </a:avLst>
          </a:prstGeom>
          <a:solidFill>
            <a:srgbClr val="141417"/>
          </a:solidFill>
          <a:ln w="19050">
            <a:solidFill>
              <a:srgbClr val="16A34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737360" y="16916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sem compromisso.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94560" y="2331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dias grátis pra usar de verdade, com sua base real. Primeiro mês sai por R$5 no cartão, depois valor cheio — sem fidelidade.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96596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grátis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 testar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21208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1º mês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cartão)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45820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 ou fidelidade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 cancelar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0" y="-1371600"/>
            <a:ext cx="10972800" cy="10972800"/>
          </a:xfrm>
          <a:prstGeom prst="ellipse">
            <a:avLst/>
          </a:prstGeom>
          <a:solidFill>
            <a:srgbClr val="16A34A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4800600" y="-685800"/>
            <a:ext cx="9601200" cy="9601200"/>
          </a:xfrm>
          <a:prstGeom prst="ellipse">
            <a:avLst/>
          </a:prstGeom>
          <a:solidFill>
            <a:srgbClr val="16A34A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4114800" y="0"/>
            <a:ext cx="8229600" cy="8229600"/>
          </a:xfrm>
          <a:prstGeom prst="ellipse">
            <a:avLst/>
          </a:prstGeom>
          <a:solidFill>
            <a:srgbClr val="16A34A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3429000" y="685800"/>
            <a:ext cx="6858000" cy="6858000"/>
          </a:xfrm>
          <a:prstGeom prst="ellipse">
            <a:avLst/>
          </a:prstGeom>
          <a:solidFill>
            <a:srgbClr val="16A34A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-2743200" y="1371600"/>
            <a:ext cx="5486400" cy="5486400"/>
          </a:xfrm>
          <a:prstGeom prst="ellipse">
            <a:avLst/>
          </a:prstGeom>
          <a:solidFill>
            <a:srgbClr val="16A34A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-2057400" y="2057400"/>
            <a:ext cx="4114800" cy="4114800"/>
          </a:xfrm>
          <a:prstGeom prst="ellipse">
            <a:avLst/>
          </a:prstGeom>
          <a:solidFill>
            <a:srgbClr val="16A34A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-1371600" y="2743200"/>
            <a:ext cx="2743200" cy="2743200"/>
          </a:xfrm>
          <a:prstGeom prst="ellipse">
            <a:avLst/>
          </a:prstGeom>
          <a:solidFill>
            <a:srgbClr val="16A34A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-768096" y="3346704"/>
            <a:ext cx="1536192" cy="1536192"/>
          </a:xfrm>
          <a:prstGeom prst="ellipse">
            <a:avLst/>
          </a:prstGeom>
          <a:solidFill>
            <a:srgbClr val="16A34A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viu o que a ORBI faz.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Agora, a proposta pra você.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2743200"/>
            <a:ext cx="6400800" cy="6400800"/>
          </a:xfrm>
          <a:prstGeom prst="ellipse">
            <a:avLst/>
          </a:prstGeom>
          <a:solidFill>
            <a:srgbClr val="16A34A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2800350" y="3143250"/>
            <a:ext cx="5600700" cy="5600700"/>
          </a:xfrm>
          <a:prstGeom prst="ellipse">
            <a:avLst/>
          </a:prstGeom>
          <a:solidFill>
            <a:srgbClr val="16A34A">
              <a:alpha val="52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2400300" y="3543300"/>
            <a:ext cx="4800600" cy="4800600"/>
          </a:xfrm>
          <a:prstGeom prst="ellipse">
            <a:avLst/>
          </a:prstGeom>
          <a:solidFill>
            <a:srgbClr val="16A34A">
              <a:alpha val="6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2000250" y="3943350"/>
            <a:ext cx="4000500" cy="4000500"/>
          </a:xfrm>
          <a:prstGeom prst="ellipse">
            <a:avLst/>
          </a:prstGeom>
          <a:solidFill>
            <a:srgbClr val="16A34A">
              <a:alpha val="8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-1600200" y="4343400"/>
            <a:ext cx="3200400" cy="3200400"/>
          </a:xfrm>
          <a:prstGeom prst="ellipse">
            <a:avLst/>
          </a:prstGeom>
          <a:solidFill>
            <a:srgbClr val="16A34A">
              <a:alpha val="10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-1200150" y="4743450"/>
            <a:ext cx="2400300" cy="2400300"/>
          </a:xfrm>
          <a:prstGeom prst="ellipse">
            <a:avLst/>
          </a:prstGeom>
          <a:solidFill>
            <a:srgbClr val="16A34A">
              <a:alpha val="13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-800100" y="5143500"/>
            <a:ext cx="1600200" cy="1600200"/>
          </a:xfrm>
          <a:prstGeom prst="ellipse">
            <a:avLst/>
          </a:prstGeom>
          <a:solidFill>
            <a:srgbClr val="16A34A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-448056" y="5495544"/>
            <a:ext cx="896112" cy="896112"/>
          </a:xfrm>
          <a:prstGeom prst="ellipse">
            <a:avLst/>
          </a:prstGeom>
          <a:solidFill>
            <a:srgbClr val="16A34A">
              <a:alpha val="245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120640" y="-914400"/>
            <a:ext cx="9144000" cy="9144000"/>
          </a:xfrm>
          <a:prstGeom prst="ellipse">
            <a:avLst/>
          </a:prstGeom>
          <a:solidFill>
            <a:srgbClr val="F59E0B">
              <a:alpha val="6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92140" y="-342900"/>
            <a:ext cx="8001000" cy="8001000"/>
          </a:xfrm>
          <a:prstGeom prst="ellipse">
            <a:avLst/>
          </a:prstGeom>
          <a:solidFill>
            <a:srgbClr val="F59E0B">
              <a:alpha val="7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263640" y="228600"/>
            <a:ext cx="6858000" cy="6858000"/>
          </a:xfrm>
          <a:prstGeom prst="ellipse">
            <a:avLst/>
          </a:prstGeom>
          <a:solidFill>
            <a:srgbClr val="F59E0B">
              <a:alpha val="8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835140" y="800100"/>
            <a:ext cx="5715000" cy="5715000"/>
          </a:xfrm>
          <a:prstGeom prst="ellipse">
            <a:avLst/>
          </a:prstGeom>
          <a:solidFill>
            <a:srgbClr val="F59E0B">
              <a:alpha val="104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406640" y="1371600"/>
            <a:ext cx="4572000" cy="4572000"/>
          </a:xfrm>
          <a:prstGeom prst="ellipse">
            <a:avLst/>
          </a:prstGeom>
          <a:solidFill>
            <a:srgbClr val="F59E0B">
              <a:alpha val="12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978140" y="1943100"/>
            <a:ext cx="3429000" cy="3429000"/>
          </a:xfrm>
          <a:prstGeom prst="ellipse">
            <a:avLst/>
          </a:prstGeom>
          <a:solidFill>
            <a:srgbClr val="F59E0B">
              <a:alpha val="15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549640" y="2514600"/>
            <a:ext cx="2286000" cy="2286000"/>
          </a:xfrm>
          <a:prstGeom prst="ellipse">
            <a:avLst/>
          </a:prstGeom>
          <a:solidFill>
            <a:srgbClr val="F59E0B">
              <a:alpha val="2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9052560" y="3017520"/>
            <a:ext cx="1280160" cy="1280160"/>
          </a:xfrm>
          <a:prstGeom prst="ellipse">
            <a:avLst/>
          </a:prstGeom>
          <a:solidFill>
            <a:srgbClr val="F59E0B">
              <a:alpha val="266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EXCLUSIVA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11887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próprio app.
</a:t>
            </a:r>
            <a:r>
              <a:rPr lang="en-US" sz="4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marca. 100% seu.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22960" y="28803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tem uma comunidade que confia em você. A gente constrói o app com a sua cara — publicado na App Store e na Google Play — pra você levar isso pra esse público.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1737360"/>
            <a:ext cx="8412480" cy="8412480"/>
          </a:xfrm>
          <a:prstGeom prst="ellipse">
            <a:avLst/>
          </a:prstGeom>
          <a:solidFill>
            <a:srgbClr val="F59E0B">
              <a:alpha val="58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851660" y="2263140"/>
            <a:ext cx="7360920" cy="736092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325880" y="2788920"/>
            <a:ext cx="6309360" cy="6309360"/>
          </a:xfrm>
          <a:prstGeom prst="ellipse">
            <a:avLst/>
          </a:prstGeom>
          <a:solidFill>
            <a:srgbClr val="F59E0B">
              <a:alpha val="8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800100" y="3314700"/>
            <a:ext cx="5257800" cy="5257800"/>
          </a:xfrm>
          <a:prstGeom prst="ellipse">
            <a:avLst/>
          </a:prstGeom>
          <a:solidFill>
            <a:srgbClr val="F59E0B">
              <a:alpha val="1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-274320" y="3840480"/>
            <a:ext cx="4206240" cy="4206240"/>
          </a:xfrm>
          <a:prstGeom prst="ellipse">
            <a:avLst/>
          </a:prstGeom>
          <a:solidFill>
            <a:srgbClr val="F59E0B">
              <a:alpha val="12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51460" y="4366260"/>
            <a:ext cx="3154680" cy="3154680"/>
          </a:xfrm>
          <a:prstGeom prst="ellipse">
            <a:avLst/>
          </a:prstGeom>
          <a:solidFill>
            <a:srgbClr val="F59E0B">
              <a:alpha val="15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4892040"/>
            <a:ext cx="2103120" cy="2103120"/>
          </a:xfrm>
          <a:prstGeom prst="ellipse">
            <a:avLst/>
          </a:prstGeom>
          <a:solidFill>
            <a:srgbClr val="F59E0B">
              <a:alpha val="198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239926" y="5354726"/>
            <a:ext cx="1177747" cy="1177747"/>
          </a:xfrm>
          <a:prstGeom prst="ellipse">
            <a:avLst/>
          </a:prstGeom>
          <a:solidFill>
            <a:srgbClr val="F59E0B">
              <a:alpha val="26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1430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convite ao seu app publicado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indica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Seus seguidores treinadores entram na ORBI pelo seu link, com 14 dias de teste grátis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697480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5661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616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Eles assinam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66160" y="38404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do teste grátis, pagam R$5 no 1º mês — depois seguem no valor cheio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697480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093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30936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bate a meta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38404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assinantes pagantes (valor cheio, não o mês de degustação) em 90 dias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52560" y="2697480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90525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05256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app nasce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52560" y="38404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próprio, com sua marca, publicado na App Store e Google Play — uso vitalício 100% grátis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-914400"/>
            <a:ext cx="9144000" cy="9144000"/>
          </a:xfrm>
          <a:prstGeom prst="ellipse">
            <a:avLst/>
          </a:prstGeom>
          <a:solidFill>
            <a:srgbClr val="F59E0B">
              <a:alpha val="58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2034540" y="-342900"/>
            <a:ext cx="8001000" cy="800100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606040" y="228600"/>
            <a:ext cx="6858000" cy="6858000"/>
          </a:xfrm>
          <a:prstGeom prst="ellipse">
            <a:avLst/>
          </a:prstGeom>
          <a:solidFill>
            <a:srgbClr val="F59E0B">
              <a:alpha val="8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177540" y="800100"/>
            <a:ext cx="5715000" cy="5715000"/>
          </a:xfrm>
          <a:prstGeom prst="ellipse">
            <a:avLst/>
          </a:prstGeom>
          <a:solidFill>
            <a:srgbClr val="F59E0B">
              <a:alpha val="101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749040" y="1371600"/>
            <a:ext cx="4572000" cy="4572000"/>
          </a:xfrm>
          <a:prstGeom prst="ellipse">
            <a:avLst/>
          </a:prstGeom>
          <a:solidFill>
            <a:srgbClr val="F59E0B">
              <a:alpha val="12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320540" y="1943100"/>
            <a:ext cx="3429000" cy="3429000"/>
          </a:xfrm>
          <a:prstGeom prst="ellipse">
            <a:avLst/>
          </a:prstGeom>
          <a:solidFill>
            <a:srgbClr val="F59E0B">
              <a:alpha val="15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892040" y="2514600"/>
            <a:ext cx="2286000" cy="2286000"/>
          </a:xfrm>
          <a:prstGeom prst="ellipse">
            <a:avLst/>
          </a:prstGeom>
          <a:solidFill>
            <a:srgbClr val="F59E0B">
              <a:alpha val="198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394960" y="3017520"/>
            <a:ext cx="1280160" cy="1280160"/>
          </a:xfrm>
          <a:prstGeom prst="ellipse">
            <a:avLst/>
          </a:prstGeom>
          <a:solidFill>
            <a:srgbClr val="F59E0B">
              <a:alpha val="263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1430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de entender, simples de acompanhar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assinantes pagantes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(valor cheio) em 90 dias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743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48056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custo pra você —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vitalício 100% grátis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2743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13816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lojas — App Store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3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Google Play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C:/Users/gabri/OneDrive/Documentos/PROJETOS CLAUDE/getshapetraining/public/logos/orbi-logo-horizontal-dark-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1481328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construir isso juntos?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app. Sua marca. Sua comunidade.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915</Words>
  <Application>Microsoft Office PowerPoint</Application>
  <PresentationFormat>Widescreen</PresentationFormat>
  <Paragraphs>179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Gabriela Gusmão</cp:lastModifiedBy>
  <cp:revision>1</cp:revision>
  <dcterms:created xsi:type="dcterms:W3CDTF">2026-08-20T20:36:07Z</dcterms:created>
  <dcterms:modified xsi:type="dcterms:W3CDTF">2026-08-20T20:50:08Z</dcterms:modified>
</cp:coreProperties>
</file>
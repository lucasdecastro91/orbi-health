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53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briela Gusmão" userId="3e8a5fbdd121f0d0" providerId="LiveId" clId="{60664AB6-B868-48D5-8A9A-AF596951E2AA}"/>
    <pc:docChg chg="undo custSel modSld">
      <pc:chgData name="Gabriela Gusmão" userId="3e8a5fbdd121f0d0" providerId="LiveId" clId="{60664AB6-B868-48D5-8A9A-AF596951E2AA}" dt="2026-08-20T20:45:43.662" v="32" actId="1076"/>
      <pc:docMkLst>
        <pc:docMk/>
      </pc:docMkLst>
      <pc:sldChg chg="modSp mod">
        <pc:chgData name="Gabriela Gusmão" userId="3e8a5fbdd121f0d0" providerId="LiveId" clId="{60664AB6-B868-48D5-8A9A-AF596951E2AA}" dt="2026-08-20T20:40:44.043" v="4" actId="1076"/>
        <pc:sldMkLst>
          <pc:docMk/>
          <pc:sldMk cId="0" sldId="260"/>
        </pc:sldMkLst>
        <pc:picChg chg="mod">
          <ac:chgData name="Gabriela Gusmão" userId="3e8a5fbdd121f0d0" providerId="LiveId" clId="{60664AB6-B868-48D5-8A9A-AF596951E2AA}" dt="2026-08-20T20:40:44.043" v="4" actId="1076"/>
          <ac:picMkLst>
            <pc:docMk/>
            <pc:sldMk cId="0" sldId="260"/>
            <ac:picMk id="22" creationId="{00000000-0000-0000-0000-000000000000}"/>
          </ac:picMkLst>
        </pc:picChg>
      </pc:sldChg>
      <pc:sldChg chg="modSp mod">
        <pc:chgData name="Gabriela Gusmão" userId="3e8a5fbdd121f0d0" providerId="LiveId" clId="{60664AB6-B868-48D5-8A9A-AF596951E2AA}" dt="2026-08-20T20:45:43.662" v="32" actId="1076"/>
        <pc:sldMkLst>
          <pc:docMk/>
          <pc:sldMk cId="0" sldId="265"/>
        </pc:sldMkLst>
        <pc:spChg chg="mod">
          <ac:chgData name="Gabriela Gusmão" userId="3e8a5fbdd121f0d0" providerId="LiveId" clId="{60664AB6-B868-48D5-8A9A-AF596951E2AA}" dt="2026-08-20T20:41:50.526" v="11" actId="1076"/>
          <ac:spMkLst>
            <pc:docMk/>
            <pc:sldMk cId="0" sldId="265"/>
            <ac:spMk id="3" creationId="{00000000-0000-0000-0000-000000000000}"/>
          </ac:spMkLst>
        </pc:spChg>
        <pc:spChg chg="mod">
          <ac:chgData name="Gabriela Gusmão" userId="3e8a5fbdd121f0d0" providerId="LiveId" clId="{60664AB6-B868-48D5-8A9A-AF596951E2AA}" dt="2026-08-20T20:43:30.302" v="20" actId="1076"/>
          <ac:spMkLst>
            <pc:docMk/>
            <pc:sldMk cId="0" sldId="265"/>
            <ac:spMk id="10" creationId="{00000000-0000-0000-0000-000000000000}"/>
          </ac:spMkLst>
        </pc:spChg>
        <pc:spChg chg="mod">
          <ac:chgData name="Gabriela Gusmão" userId="3e8a5fbdd121f0d0" providerId="LiveId" clId="{60664AB6-B868-48D5-8A9A-AF596951E2AA}" dt="2026-08-20T20:43:16.020" v="18" actId="1076"/>
          <ac:spMkLst>
            <pc:docMk/>
            <pc:sldMk cId="0" sldId="265"/>
            <ac:spMk id="11" creationId="{00000000-0000-0000-0000-000000000000}"/>
          </ac:spMkLst>
        </pc:spChg>
        <pc:spChg chg="mod">
          <ac:chgData name="Gabriela Gusmão" userId="3e8a5fbdd121f0d0" providerId="LiveId" clId="{60664AB6-B868-48D5-8A9A-AF596951E2AA}" dt="2026-08-20T20:43:24.420" v="19" actId="1076"/>
          <ac:spMkLst>
            <pc:docMk/>
            <pc:sldMk cId="0" sldId="265"/>
            <ac:spMk id="12" creationId="{00000000-0000-0000-0000-000000000000}"/>
          </ac:spMkLst>
        </pc:spChg>
        <pc:picChg chg="mod">
          <ac:chgData name="Gabriela Gusmão" userId="3e8a5fbdd121f0d0" providerId="LiveId" clId="{60664AB6-B868-48D5-8A9A-AF596951E2AA}" dt="2026-08-20T20:45:43.662" v="32" actId="1076"/>
          <ac:picMkLst>
            <pc:docMk/>
            <pc:sldMk cId="0" sldId="265"/>
            <ac:picMk id="13" creationId="{00000000-0000-0000-0000-000000000000}"/>
          </ac:picMkLst>
        </pc:picChg>
      </pc:sldChg>
      <pc:sldChg chg="modSp mod">
        <pc:chgData name="Gabriela Gusmão" userId="3e8a5fbdd121f0d0" providerId="LiveId" clId="{60664AB6-B868-48D5-8A9A-AF596951E2AA}" dt="2026-08-20T20:44:54.168" v="26" actId="1076"/>
        <pc:sldMkLst>
          <pc:docMk/>
          <pc:sldMk cId="0" sldId="266"/>
        </pc:sldMkLst>
        <pc:spChg chg="mod">
          <ac:chgData name="Gabriela Gusmão" userId="3e8a5fbdd121f0d0" providerId="LiveId" clId="{60664AB6-B868-48D5-8A9A-AF596951E2AA}" dt="2026-08-20T20:44:39.775" v="24" actId="1076"/>
          <ac:spMkLst>
            <pc:docMk/>
            <pc:sldMk cId="0" sldId="266"/>
            <ac:spMk id="6" creationId="{00000000-0000-0000-0000-000000000000}"/>
          </ac:spMkLst>
        </pc:spChg>
        <pc:spChg chg="mod">
          <ac:chgData name="Gabriela Gusmão" userId="3e8a5fbdd121f0d0" providerId="LiveId" clId="{60664AB6-B868-48D5-8A9A-AF596951E2AA}" dt="2026-08-20T20:44:54.168" v="26" actId="1076"/>
          <ac:spMkLst>
            <pc:docMk/>
            <pc:sldMk cId="0" sldId="266"/>
            <ac:spMk id="7" creationId="{00000000-0000-0000-0000-000000000000}"/>
          </ac:spMkLst>
        </pc:spChg>
        <pc:spChg chg="mod">
          <ac:chgData name="Gabriela Gusmão" userId="3e8a5fbdd121f0d0" providerId="LiveId" clId="{60664AB6-B868-48D5-8A9A-AF596951E2AA}" dt="2026-08-20T20:44:54.168" v="26" actId="1076"/>
          <ac:spMkLst>
            <pc:docMk/>
            <pc:sldMk cId="0" sldId="266"/>
            <ac:spMk id="8" creationId="{00000000-0000-0000-0000-000000000000}"/>
          </ac:spMkLst>
        </pc:spChg>
        <pc:spChg chg="mod">
          <ac:chgData name="Gabriela Gusmão" userId="3e8a5fbdd121f0d0" providerId="LiveId" clId="{60664AB6-B868-48D5-8A9A-AF596951E2AA}" dt="2026-08-20T20:44:54.168" v="26" actId="1076"/>
          <ac:spMkLst>
            <pc:docMk/>
            <pc:sldMk cId="0" sldId="266"/>
            <ac:spMk id="9" creationId="{00000000-0000-0000-0000-000000000000}"/>
          </ac:spMkLst>
        </pc:spChg>
        <pc:spChg chg="mod">
          <ac:chgData name="Gabriela Gusmão" userId="3e8a5fbdd121f0d0" providerId="LiveId" clId="{60664AB6-B868-48D5-8A9A-AF596951E2AA}" dt="2026-08-20T20:44:54.168" v="26" actId="1076"/>
          <ac:spMkLst>
            <pc:docMk/>
            <pc:sldMk cId="0" sldId="266"/>
            <ac:spMk id="11" creationId="{00000000-0000-0000-0000-000000000000}"/>
          </ac:spMkLst>
        </pc:spChg>
        <pc:spChg chg="mod">
          <ac:chgData name="Gabriela Gusmão" userId="3e8a5fbdd121f0d0" providerId="LiveId" clId="{60664AB6-B868-48D5-8A9A-AF596951E2AA}" dt="2026-08-20T20:44:54.168" v="26" actId="1076"/>
          <ac:spMkLst>
            <pc:docMk/>
            <pc:sldMk cId="0" sldId="266"/>
            <ac:spMk id="12" creationId="{00000000-0000-0000-0000-000000000000}"/>
          </ac:spMkLst>
        </pc:spChg>
        <pc:spChg chg="mod">
          <ac:chgData name="Gabriela Gusmão" userId="3e8a5fbdd121f0d0" providerId="LiveId" clId="{60664AB6-B868-48D5-8A9A-AF596951E2AA}" dt="2026-08-20T20:44:54.168" v="26" actId="1076"/>
          <ac:spMkLst>
            <pc:docMk/>
            <pc:sldMk cId="0" sldId="266"/>
            <ac:spMk id="13" creationId="{00000000-0000-0000-0000-000000000000}"/>
          </ac:spMkLst>
        </pc:spChg>
        <pc:spChg chg="mod">
          <ac:chgData name="Gabriela Gusmão" userId="3e8a5fbdd121f0d0" providerId="LiveId" clId="{60664AB6-B868-48D5-8A9A-AF596951E2AA}" dt="2026-08-20T20:44:54.168" v="26" actId="1076"/>
          <ac:spMkLst>
            <pc:docMk/>
            <pc:sldMk cId="0" sldId="266"/>
            <ac:spMk id="14" creationId="{00000000-0000-0000-0000-000000000000}"/>
          </ac:spMkLst>
        </pc:spChg>
        <pc:spChg chg="mod">
          <ac:chgData name="Gabriela Gusmão" userId="3e8a5fbdd121f0d0" providerId="LiveId" clId="{60664AB6-B868-48D5-8A9A-AF596951E2AA}" dt="2026-08-20T20:44:54.168" v="26" actId="1076"/>
          <ac:spMkLst>
            <pc:docMk/>
            <pc:sldMk cId="0" sldId="266"/>
            <ac:spMk id="15" creationId="{00000000-0000-0000-0000-000000000000}"/>
          </ac:spMkLst>
        </pc:spChg>
        <pc:spChg chg="mod">
          <ac:chgData name="Gabriela Gusmão" userId="3e8a5fbdd121f0d0" providerId="LiveId" clId="{60664AB6-B868-48D5-8A9A-AF596951E2AA}" dt="2026-08-20T20:44:54.168" v="26" actId="1076"/>
          <ac:spMkLst>
            <pc:docMk/>
            <pc:sldMk cId="0" sldId="266"/>
            <ac:spMk id="16" creationId="{00000000-0000-0000-0000-000000000000}"/>
          </ac:spMkLst>
        </pc:spChg>
        <pc:spChg chg="mod">
          <ac:chgData name="Gabriela Gusmão" userId="3e8a5fbdd121f0d0" providerId="LiveId" clId="{60664AB6-B868-48D5-8A9A-AF596951E2AA}" dt="2026-08-20T20:44:54.168" v="26" actId="1076"/>
          <ac:spMkLst>
            <pc:docMk/>
            <pc:sldMk cId="0" sldId="266"/>
            <ac:spMk id="1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3694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19738" y="-3931920"/>
            <a:ext cx="14630400" cy="14630400"/>
          </a:xfrm>
          <a:prstGeom prst="ellipse">
            <a:avLst/>
          </a:prstGeom>
          <a:solidFill>
            <a:srgbClr val="16A34A">
              <a:alpha val="67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3234138" y="-3017520"/>
            <a:ext cx="12801600" cy="12801600"/>
          </a:xfrm>
          <a:prstGeom prst="ellipse">
            <a:avLst/>
          </a:prstGeom>
          <a:solidFill>
            <a:srgbClr val="16A34A">
              <a:alpha val="79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4148538" y="-2103120"/>
            <a:ext cx="10972800" cy="10972800"/>
          </a:xfrm>
          <a:prstGeom prst="ellipse">
            <a:avLst/>
          </a:prstGeom>
          <a:solidFill>
            <a:srgbClr val="16A34A">
              <a:alpha val="92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5062938" y="-1188720"/>
            <a:ext cx="9144000" cy="9144000"/>
          </a:xfrm>
          <a:prstGeom prst="ellipse">
            <a:avLst/>
          </a:prstGeom>
          <a:solidFill>
            <a:srgbClr val="16A34A">
              <a:alpha val="11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5977338" y="-274320"/>
            <a:ext cx="7315200" cy="7315200"/>
          </a:xfrm>
          <a:prstGeom prst="ellipse">
            <a:avLst/>
          </a:prstGeom>
          <a:solidFill>
            <a:srgbClr val="16A34A">
              <a:alpha val="132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6891738" y="640080"/>
            <a:ext cx="5486400" cy="5486400"/>
          </a:xfrm>
          <a:prstGeom prst="ellipse">
            <a:avLst/>
          </a:prstGeom>
          <a:solidFill>
            <a:srgbClr val="16A34A">
              <a:alpha val="162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7806138" y="1554480"/>
            <a:ext cx="3657600" cy="3657600"/>
          </a:xfrm>
          <a:prstGeom prst="ellipse">
            <a:avLst/>
          </a:prstGeom>
          <a:solidFill>
            <a:srgbClr val="16A34A">
              <a:alpha val="207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8610810" y="2359152"/>
            <a:ext cx="2048256" cy="2048256"/>
          </a:xfrm>
          <a:prstGeom prst="ellipse">
            <a:avLst/>
          </a:prstGeom>
          <a:solidFill>
            <a:srgbClr val="16A34A">
              <a:alpha val="27200"/>
            </a:srgbClr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0" name="Image 0" descr="C:/Users/gabri/OneDrive/Documentos/PROJETOS CLAUDE/getshapetraining/public/logos/orbi-logo-horizontal-dark-h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11480"/>
            <a:ext cx="1697355" cy="5029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22960" y="13487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PROPOSTA DE PARCERIA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77240" y="1714500"/>
            <a:ext cx="74980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Seus clientes.
Sua receita.
</a:t>
            </a:r>
            <a:r>
              <a:rPr lang="en-US" sz="50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Sua marca.</a:t>
            </a:r>
            <a:endParaRPr lang="en-US" sz="5000" dirty="0"/>
          </a:p>
        </p:txBody>
      </p:sp>
      <p:sp>
        <p:nvSpPr>
          <p:cNvPr id="13" name="Text 10"/>
          <p:cNvSpPr/>
          <p:nvPr/>
        </p:nvSpPr>
        <p:spPr>
          <a:xfrm>
            <a:off x="822960" y="468630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A3A3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plataforma white-label pra você ter seu próprio app de treino e dieta — sem precisar de um único desenvolvedor.</a:t>
            </a:r>
            <a:endParaRPr lang="en-US" sz="1500" dirty="0"/>
          </a:p>
        </p:txBody>
      </p:sp>
      <p:pic>
        <p:nvPicPr>
          <p:cNvPr id="14" name="Image 1" descr="C:/Users/gabri/OneDrive/Documentos/PROJETOS CLAUDE/getshapetraining/materiais/apresentacao-parceria/assets/cap_hero_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0" y="868680"/>
            <a:ext cx="4756785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0" y="-914400"/>
            <a:ext cx="9509760" cy="9509760"/>
          </a:xfrm>
          <a:prstGeom prst="ellipse">
            <a:avLst/>
          </a:prstGeom>
          <a:solidFill>
            <a:srgbClr val="16A34A">
              <a:alpha val="67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5897880" y="-320040"/>
            <a:ext cx="8321040" cy="8321040"/>
          </a:xfrm>
          <a:prstGeom prst="ellipse">
            <a:avLst/>
          </a:prstGeom>
          <a:solidFill>
            <a:srgbClr val="16A34A">
              <a:alpha val="79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6492240" y="274320"/>
            <a:ext cx="7132320" cy="7132320"/>
          </a:xfrm>
          <a:prstGeom prst="ellipse">
            <a:avLst/>
          </a:prstGeom>
          <a:solidFill>
            <a:srgbClr val="16A34A">
              <a:alpha val="92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7086600" y="868680"/>
            <a:ext cx="5943600" cy="5943600"/>
          </a:xfrm>
          <a:prstGeom prst="ellipse">
            <a:avLst/>
          </a:prstGeom>
          <a:solidFill>
            <a:srgbClr val="16A34A">
              <a:alpha val="11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7680960" y="1463040"/>
            <a:ext cx="4754880" cy="4754880"/>
          </a:xfrm>
          <a:prstGeom prst="ellipse">
            <a:avLst/>
          </a:prstGeom>
          <a:solidFill>
            <a:srgbClr val="16A34A">
              <a:alpha val="132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8275320" y="2057400"/>
            <a:ext cx="3566160" cy="3566160"/>
          </a:xfrm>
          <a:prstGeom prst="ellipse">
            <a:avLst/>
          </a:prstGeom>
          <a:solidFill>
            <a:srgbClr val="16A34A">
              <a:alpha val="162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8869680" y="2651760"/>
            <a:ext cx="2377440" cy="2377440"/>
          </a:xfrm>
          <a:prstGeom prst="ellipse">
            <a:avLst/>
          </a:prstGeom>
          <a:solidFill>
            <a:srgbClr val="16A34A">
              <a:alpha val="207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9392717" y="3174797"/>
            <a:ext cx="1331366" cy="1331366"/>
          </a:xfrm>
          <a:prstGeom prst="ellipse">
            <a:avLst/>
          </a:prstGeom>
          <a:solidFill>
            <a:srgbClr val="16A34A">
              <a:alpha val="272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82296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PROBLEMA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86868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ferramenta que você usa define o valor que o mercado enxerga em você.</a:t>
            </a:r>
            <a:endParaRPr lang="en-US" sz="3200" dirty="0"/>
          </a:p>
        </p:txBody>
      </p:sp>
      <p:sp>
        <p:nvSpPr>
          <p:cNvPr id="12" name="Shape 10"/>
          <p:cNvSpPr/>
          <p:nvPr/>
        </p:nvSpPr>
        <p:spPr>
          <a:xfrm>
            <a:off x="868680" y="2999232"/>
            <a:ext cx="201168" cy="201168"/>
          </a:xfrm>
          <a:prstGeom prst="ellipse">
            <a:avLst/>
          </a:prstGeom>
          <a:solidFill>
            <a:srgbClr val="EF4444">
              <a:alpha val="1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868680" y="2944368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88720" y="2916936"/>
            <a:ext cx="699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E5E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Treino mandado em PDF avulso ou print de planilha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68680" y="3685032"/>
            <a:ext cx="201168" cy="201168"/>
          </a:xfrm>
          <a:prstGeom prst="ellipse">
            <a:avLst/>
          </a:prstGeom>
          <a:solidFill>
            <a:srgbClr val="EF4444">
              <a:alpha val="1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868680" y="3630168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88720" y="3602736"/>
            <a:ext cx="699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E5E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Cobrança manual pelo WhatsApp, sem controle de quem pagou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68680" y="4370832"/>
            <a:ext cx="201168" cy="201168"/>
          </a:xfrm>
          <a:prstGeom prst="ellipse">
            <a:avLst/>
          </a:prstGeom>
          <a:solidFill>
            <a:srgbClr val="EF4444">
              <a:alpha val="1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868680" y="4315968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88720" y="4288536"/>
            <a:ext cx="699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E5E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Nenhuma identidade visual própria — parece amador pro cliente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68680" y="5056632"/>
            <a:ext cx="201168" cy="201168"/>
          </a:xfrm>
          <a:prstGeom prst="ellipse">
            <a:avLst/>
          </a:prstGeom>
          <a:solidFill>
            <a:srgbClr val="EF4444">
              <a:alpha val="1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868680" y="5001768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188720" y="4974336"/>
            <a:ext cx="699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E5E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histórico de evolução organizado, sem dado pra reter aluno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549640" y="2331720"/>
            <a:ext cx="3017520" cy="3063240"/>
          </a:xfrm>
          <a:prstGeom prst="roundRect">
            <a:avLst>
              <a:gd name="adj" fmla="val 4242"/>
            </a:avLst>
          </a:prstGeom>
          <a:solidFill>
            <a:srgbClr val="0B141A"/>
          </a:solidFill>
          <a:ln w="12700">
            <a:solidFill>
              <a:srgbClr val="2A3942"/>
            </a:solidFill>
            <a:prstDash val="solid"/>
          </a:ln>
          <a:effectLst>
            <a:outerShdw blurRad="304800" dist="127000" dir="5400000" algn="bl" rotWithShape="0">
              <a:srgbClr val="000000">
                <a:alpha val="6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8732520" y="2514600"/>
            <a:ext cx="310896" cy="310896"/>
          </a:xfrm>
          <a:prstGeom prst="ellipse">
            <a:avLst/>
          </a:prstGeom>
          <a:solidFill>
            <a:srgbClr val="3A4A5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8732520" y="25146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9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134856" y="2496312"/>
            <a:ext cx="2249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9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Trainer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9134856" y="2688336"/>
            <a:ext cx="22494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69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visto por último hoje às 21:40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8732520" y="2971800"/>
            <a:ext cx="2651760" cy="0"/>
          </a:xfrm>
          <a:prstGeom prst="line">
            <a:avLst/>
          </a:prstGeom>
          <a:noFill/>
          <a:ln w="9525">
            <a:solidFill>
              <a:srgbClr val="2A394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Shape 28"/>
          <p:cNvSpPr/>
          <p:nvPr/>
        </p:nvSpPr>
        <p:spPr>
          <a:xfrm>
            <a:off x="8732520" y="3136392"/>
            <a:ext cx="1783080" cy="384048"/>
          </a:xfrm>
          <a:prstGeom prst="roundRect">
            <a:avLst>
              <a:gd name="adj" fmla="val 19048"/>
            </a:avLst>
          </a:prstGeom>
          <a:solidFill>
            <a:srgbClr val="1F2C3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8842248" y="3191256"/>
            <a:ext cx="1563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9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Chegou meu treino?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9052560" y="3666744"/>
            <a:ext cx="2331720" cy="566928"/>
          </a:xfrm>
          <a:prstGeom prst="roundRect">
            <a:avLst>
              <a:gd name="adj" fmla="val 12903"/>
            </a:avLst>
          </a:prstGeom>
          <a:solidFill>
            <a:srgbClr val="005C4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3" name="Text 31"/>
          <p:cNvSpPr/>
          <p:nvPr/>
        </p:nvSpPr>
        <p:spPr>
          <a:xfrm>
            <a:off x="9162288" y="3712464"/>
            <a:ext cx="21122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9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Chegou! Segue o treino: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9162288" y="3931920"/>
            <a:ext cx="237744" cy="237744"/>
          </a:xfrm>
          <a:prstGeom prst="roundRect">
            <a:avLst>
              <a:gd name="adj" fmla="val 11538"/>
            </a:avLst>
          </a:prstGeom>
          <a:solidFill>
            <a:srgbClr val="8B1A1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5" name="Text 33"/>
          <p:cNvSpPr/>
          <p:nvPr/>
        </p:nvSpPr>
        <p:spPr>
          <a:xfrm>
            <a:off x="9162288" y="393192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</a:t>
            </a:r>
            <a:endParaRPr lang="en-US" sz="600" dirty="0"/>
          </a:p>
        </p:txBody>
      </p:sp>
      <p:sp>
        <p:nvSpPr>
          <p:cNvPr id="36" name="Text 34"/>
          <p:cNvSpPr/>
          <p:nvPr/>
        </p:nvSpPr>
        <p:spPr>
          <a:xfrm>
            <a:off x="9454896" y="3950208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9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mesociclo3.pdf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8732520" y="4379976"/>
            <a:ext cx="2148840" cy="548640"/>
          </a:xfrm>
          <a:prstGeom prst="roundRect">
            <a:avLst>
              <a:gd name="adj" fmla="val 13333"/>
            </a:avLst>
          </a:prstGeom>
          <a:solidFill>
            <a:srgbClr val="1F2C3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8" name="Text 36"/>
          <p:cNvSpPr/>
          <p:nvPr/>
        </p:nvSpPr>
        <p:spPr>
          <a:xfrm>
            <a:off x="8842248" y="4434840"/>
            <a:ext cx="19293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9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o pagamento desse mês, como faço?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8732520" y="509320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69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digitando...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8549640" y="55321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A3A3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ferramenta própria, você compete por preço — não por marca.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434840" y="-1188720"/>
            <a:ext cx="8778240" cy="8778240"/>
          </a:xfrm>
          <a:prstGeom prst="ellipse">
            <a:avLst/>
          </a:prstGeom>
          <a:solidFill>
            <a:srgbClr val="16A34A">
              <a:alpha val="61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4983480" y="-640080"/>
            <a:ext cx="7680960" cy="7680960"/>
          </a:xfrm>
          <a:prstGeom prst="ellipse">
            <a:avLst/>
          </a:prstGeom>
          <a:solidFill>
            <a:srgbClr val="16A34A">
              <a:alpha val="73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5532120" y="-91440"/>
            <a:ext cx="6583680" cy="6583680"/>
          </a:xfrm>
          <a:prstGeom prst="ellipse">
            <a:avLst/>
          </a:prstGeom>
          <a:solidFill>
            <a:srgbClr val="16A34A">
              <a:alpha val="86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6080760" y="457200"/>
            <a:ext cx="5486400" cy="5486400"/>
          </a:xfrm>
          <a:prstGeom prst="ellipse">
            <a:avLst/>
          </a:prstGeom>
          <a:solidFill>
            <a:srgbClr val="16A34A">
              <a:alpha val="104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6629400" y="1005840"/>
            <a:ext cx="4389120" cy="4389120"/>
          </a:xfrm>
          <a:prstGeom prst="ellipse">
            <a:avLst/>
          </a:prstGeom>
          <a:solidFill>
            <a:srgbClr val="16A34A">
              <a:alpha val="126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7178040" y="1554480"/>
            <a:ext cx="3291840" cy="3291840"/>
          </a:xfrm>
          <a:prstGeom prst="ellipse">
            <a:avLst/>
          </a:prstGeom>
          <a:solidFill>
            <a:srgbClr val="16A34A">
              <a:alpha val="156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7726680" y="2103120"/>
            <a:ext cx="2194560" cy="2194560"/>
          </a:xfrm>
          <a:prstGeom prst="ellipse">
            <a:avLst/>
          </a:prstGeom>
          <a:solidFill>
            <a:srgbClr val="16A34A">
              <a:alpha val="201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8209483" y="2585923"/>
            <a:ext cx="1228954" cy="1228954"/>
          </a:xfrm>
          <a:prstGeom prst="ellipse">
            <a:avLst/>
          </a:prstGeom>
          <a:solidFill>
            <a:srgbClr val="16A34A">
              <a:alpha val="266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822960" y="685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SOLUÇÃO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1143000"/>
            <a:ext cx="9601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muda com uma ferramenta profissional de verdade</a:t>
            </a:r>
            <a:endParaRPr lang="en-US" sz="3200" dirty="0"/>
          </a:p>
        </p:txBody>
      </p:sp>
      <p:sp>
        <p:nvSpPr>
          <p:cNvPr id="12" name="Shape 10"/>
          <p:cNvSpPr/>
          <p:nvPr/>
        </p:nvSpPr>
        <p:spPr>
          <a:xfrm>
            <a:off x="822960" y="2606040"/>
            <a:ext cx="5120640" cy="3383280"/>
          </a:xfrm>
          <a:prstGeom prst="roundRect">
            <a:avLst>
              <a:gd name="adj" fmla="val 2703"/>
            </a:avLst>
          </a:prstGeom>
          <a:solidFill>
            <a:srgbClr val="141417"/>
          </a:solidFill>
          <a:ln w="12700">
            <a:solidFill>
              <a:srgbClr val="23232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1097280" y="2880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097280" y="3456432"/>
            <a:ext cx="201168" cy="201168"/>
          </a:xfrm>
          <a:prstGeom prst="ellipse">
            <a:avLst/>
          </a:prstGeom>
          <a:solidFill>
            <a:srgbClr val="EF4444">
              <a:alpha val="1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1097280" y="3401568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417320" y="3374136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E5E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Planilha + PDF + WhatsApp separados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097280" y="4023360"/>
            <a:ext cx="201168" cy="201168"/>
          </a:xfrm>
          <a:prstGeom prst="ellipse">
            <a:avLst/>
          </a:prstGeom>
          <a:solidFill>
            <a:srgbClr val="EF4444">
              <a:alpha val="1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1097280" y="3968496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417320" y="3941064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E5E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Cobrança manual, sem previsibilidade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097280" y="4590288"/>
            <a:ext cx="201168" cy="201168"/>
          </a:xfrm>
          <a:prstGeom prst="ellipse">
            <a:avLst/>
          </a:prstGeom>
          <a:solidFill>
            <a:srgbClr val="EF4444">
              <a:alpha val="1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1097280" y="4535424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417320" y="4507992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E5E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marca — só mais um “personal”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1097280" y="5157216"/>
            <a:ext cx="201168" cy="201168"/>
          </a:xfrm>
          <a:prstGeom prst="ellipse">
            <a:avLst/>
          </a:prstGeom>
          <a:solidFill>
            <a:srgbClr val="EF4444">
              <a:alpha val="1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1097280" y="5102352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417320" y="507492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E5E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Aluno cancela sem você perceber a tempo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263640" y="2606040"/>
            <a:ext cx="5120640" cy="3383280"/>
          </a:xfrm>
          <a:prstGeom prst="roundRect">
            <a:avLst>
              <a:gd name="adj" fmla="val 2703"/>
            </a:avLst>
          </a:prstGeom>
          <a:solidFill>
            <a:srgbClr val="141417"/>
          </a:solidFill>
          <a:ln w="19050">
            <a:solidFill>
              <a:srgbClr val="16A34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6537960" y="2880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DEPOIS — COM A ORBI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537960" y="3456432"/>
            <a:ext cx="201168" cy="201168"/>
          </a:xfrm>
          <a:prstGeom prst="ellipse">
            <a:avLst/>
          </a:prstGeom>
          <a:solidFill>
            <a:srgbClr val="4ADE80">
              <a:alpha val="1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6537960" y="3401568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858000" y="3374136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E5E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com a sua identidade visual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537960" y="4023360"/>
            <a:ext cx="201168" cy="201168"/>
          </a:xfrm>
          <a:prstGeom prst="ellipse">
            <a:avLst/>
          </a:prstGeom>
          <a:solidFill>
            <a:srgbClr val="4ADE80">
              <a:alpha val="1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6537960" y="3968496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858000" y="3941064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E5E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Cobrança recorrente automatizada (PIX/cartão)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537960" y="4590288"/>
            <a:ext cx="201168" cy="201168"/>
          </a:xfrm>
          <a:prstGeom prst="ellipse">
            <a:avLst/>
          </a:prstGeom>
          <a:solidFill>
            <a:srgbClr val="4ADE80">
              <a:alpha val="1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5" name="Text 33"/>
          <p:cNvSpPr/>
          <p:nvPr/>
        </p:nvSpPr>
        <p:spPr>
          <a:xfrm>
            <a:off x="6537960" y="4535424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858000" y="4507992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E5E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Você parece — e é — uma empresa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6537960" y="5157216"/>
            <a:ext cx="201168" cy="201168"/>
          </a:xfrm>
          <a:prstGeom prst="ellipse">
            <a:avLst/>
          </a:prstGeom>
          <a:solidFill>
            <a:srgbClr val="4ADE80">
              <a:alpha val="1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8" name="Text 36"/>
          <p:cNvSpPr/>
          <p:nvPr/>
        </p:nvSpPr>
        <p:spPr>
          <a:xfrm>
            <a:off x="6537960" y="5102352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858000" y="507492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E5E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Evolução e engajamento monitorados no painel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08960" y="1645920"/>
            <a:ext cx="5852160" cy="5852160"/>
          </a:xfrm>
          <a:prstGeom prst="ellipse">
            <a:avLst/>
          </a:prstGeom>
          <a:solidFill>
            <a:srgbClr val="16A34A">
              <a:alpha val="4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3474720" y="2011680"/>
            <a:ext cx="5120640" cy="5120640"/>
          </a:xfrm>
          <a:prstGeom prst="ellipse">
            <a:avLst/>
          </a:prstGeom>
          <a:solidFill>
            <a:srgbClr val="16A34A">
              <a:alpha val="52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3840480" y="2377440"/>
            <a:ext cx="4389120" cy="4389120"/>
          </a:xfrm>
          <a:prstGeom prst="ellipse">
            <a:avLst/>
          </a:prstGeom>
          <a:solidFill>
            <a:srgbClr val="16A34A">
              <a:alpha val="65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4206240" y="2743200"/>
            <a:ext cx="3657600" cy="3657600"/>
          </a:xfrm>
          <a:prstGeom prst="ellipse">
            <a:avLst/>
          </a:prstGeom>
          <a:solidFill>
            <a:srgbClr val="16A34A">
              <a:alpha val="83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4572000" y="3108960"/>
            <a:ext cx="2926080" cy="2926080"/>
          </a:xfrm>
          <a:prstGeom prst="ellipse">
            <a:avLst/>
          </a:prstGeom>
          <a:solidFill>
            <a:srgbClr val="16A34A">
              <a:alpha val="105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4937760" y="3474720"/>
            <a:ext cx="2194560" cy="2194560"/>
          </a:xfrm>
          <a:prstGeom prst="ellipse">
            <a:avLst/>
          </a:prstGeom>
          <a:solidFill>
            <a:srgbClr val="16A34A">
              <a:alpha val="135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5303520" y="3840480"/>
            <a:ext cx="1463040" cy="1463040"/>
          </a:xfrm>
          <a:prstGeom prst="ellipse">
            <a:avLst/>
          </a:prstGeom>
          <a:solidFill>
            <a:srgbClr val="16A34A">
              <a:alpha val="18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5625389" y="4162349"/>
            <a:ext cx="819302" cy="819302"/>
          </a:xfrm>
          <a:prstGeom prst="ellipse">
            <a:avLst/>
          </a:prstGeom>
          <a:solidFill>
            <a:srgbClr val="16A34A">
              <a:alpha val="245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0" y="50292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WHITE-LABEL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0" y="868680"/>
            <a:ext cx="121916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Seu app. Sua marca. Sua cor.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737360" y="1463040"/>
            <a:ext cx="8714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50" dirty="0">
                <a:solidFill>
                  <a:srgbClr val="A3A3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treinador tem sua própria identidade visual. O aluno nem sabe que é a mesma plataforma.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1158088" y="2176272"/>
            <a:ext cx="201168" cy="201168"/>
          </a:xfrm>
          <a:prstGeom prst="ellipse">
            <a:avLst/>
          </a:prstGeom>
          <a:solidFill>
            <a:srgbClr val="4ADE80">
              <a:alpha val="1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1158088" y="2121408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478128" y="2093976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E5E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Logo, cores e nome próprios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449928" y="2176272"/>
            <a:ext cx="201168" cy="201168"/>
          </a:xfrm>
          <a:prstGeom prst="ellipse">
            <a:avLst/>
          </a:prstGeom>
          <a:solidFill>
            <a:srgbClr val="4ADE80">
              <a:alpha val="1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4449928" y="2121408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69968" y="2093976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E5E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URL exclusiva pra sua marca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741768" y="2176272"/>
            <a:ext cx="201168" cy="201168"/>
          </a:xfrm>
          <a:prstGeom prst="ellipse">
            <a:avLst/>
          </a:prstGeom>
          <a:solidFill>
            <a:srgbClr val="4ADE80">
              <a:alpha val="1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7741768" y="2121408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061808" y="2093976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E5E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na App Store / Google Play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192883" y="2743200"/>
            <a:ext cx="3657600" cy="3657600"/>
          </a:xfrm>
          <a:prstGeom prst="ellipse">
            <a:avLst/>
          </a:prstGeom>
          <a:solidFill>
            <a:srgbClr val="EF4444">
              <a:alpha val="67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Shape 21"/>
          <p:cNvSpPr/>
          <p:nvPr/>
        </p:nvSpPr>
        <p:spPr>
          <a:xfrm>
            <a:off x="2421483" y="2971800"/>
            <a:ext cx="3200400" cy="3200400"/>
          </a:xfrm>
          <a:prstGeom prst="ellipse">
            <a:avLst/>
          </a:prstGeom>
          <a:solidFill>
            <a:srgbClr val="EF4444">
              <a:alpha val="79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Shape 22"/>
          <p:cNvSpPr/>
          <p:nvPr/>
        </p:nvSpPr>
        <p:spPr>
          <a:xfrm>
            <a:off x="2650083" y="3200400"/>
            <a:ext cx="2743200" cy="2743200"/>
          </a:xfrm>
          <a:prstGeom prst="ellipse">
            <a:avLst/>
          </a:prstGeom>
          <a:solidFill>
            <a:srgbClr val="EF4444">
              <a:alpha val="92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2878683" y="3429000"/>
            <a:ext cx="2286000" cy="2286000"/>
          </a:xfrm>
          <a:prstGeom prst="ellipse">
            <a:avLst/>
          </a:prstGeom>
          <a:solidFill>
            <a:srgbClr val="EF4444">
              <a:alpha val="11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3107283" y="3657600"/>
            <a:ext cx="1828800" cy="1828800"/>
          </a:xfrm>
          <a:prstGeom prst="ellipse">
            <a:avLst/>
          </a:prstGeom>
          <a:solidFill>
            <a:srgbClr val="EF4444">
              <a:alpha val="132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Shape 25"/>
          <p:cNvSpPr/>
          <p:nvPr/>
        </p:nvSpPr>
        <p:spPr>
          <a:xfrm>
            <a:off x="3335883" y="3886200"/>
            <a:ext cx="1371600" cy="1371600"/>
          </a:xfrm>
          <a:prstGeom prst="ellipse">
            <a:avLst/>
          </a:prstGeom>
          <a:solidFill>
            <a:srgbClr val="EF4444">
              <a:alpha val="162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8" name="Shape 26"/>
          <p:cNvSpPr/>
          <p:nvPr/>
        </p:nvSpPr>
        <p:spPr>
          <a:xfrm>
            <a:off x="3564483" y="4114800"/>
            <a:ext cx="914400" cy="914400"/>
          </a:xfrm>
          <a:prstGeom prst="ellipse">
            <a:avLst/>
          </a:prstGeom>
          <a:solidFill>
            <a:srgbClr val="EF4444">
              <a:alpha val="207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Shape 27"/>
          <p:cNvSpPr/>
          <p:nvPr/>
        </p:nvSpPr>
        <p:spPr>
          <a:xfrm>
            <a:off x="3765651" y="4315968"/>
            <a:ext cx="512064" cy="512064"/>
          </a:xfrm>
          <a:prstGeom prst="ellipse">
            <a:avLst/>
          </a:prstGeom>
          <a:solidFill>
            <a:srgbClr val="EF4444">
              <a:alpha val="272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Shape 28"/>
          <p:cNvSpPr/>
          <p:nvPr/>
        </p:nvSpPr>
        <p:spPr>
          <a:xfrm>
            <a:off x="3992728" y="2468880"/>
            <a:ext cx="4206240" cy="4206240"/>
          </a:xfrm>
          <a:prstGeom prst="ellipse">
            <a:avLst/>
          </a:prstGeom>
          <a:solidFill>
            <a:srgbClr val="3B82F6">
              <a:alpha val="7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1" name="Shape 29"/>
          <p:cNvSpPr/>
          <p:nvPr/>
        </p:nvSpPr>
        <p:spPr>
          <a:xfrm>
            <a:off x="4255618" y="2731770"/>
            <a:ext cx="3680460" cy="3680460"/>
          </a:xfrm>
          <a:prstGeom prst="ellipse">
            <a:avLst/>
          </a:prstGeom>
          <a:solidFill>
            <a:srgbClr val="3B82F6">
              <a:alpha val="82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2" name="Shape 30"/>
          <p:cNvSpPr/>
          <p:nvPr/>
        </p:nvSpPr>
        <p:spPr>
          <a:xfrm>
            <a:off x="4518508" y="2994660"/>
            <a:ext cx="3154680" cy="3154680"/>
          </a:xfrm>
          <a:prstGeom prst="ellipse">
            <a:avLst/>
          </a:prstGeom>
          <a:solidFill>
            <a:srgbClr val="3B82F6">
              <a:alpha val="95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3" name="Shape 31"/>
          <p:cNvSpPr/>
          <p:nvPr/>
        </p:nvSpPr>
        <p:spPr>
          <a:xfrm>
            <a:off x="4781398" y="3257550"/>
            <a:ext cx="2628900" cy="2628900"/>
          </a:xfrm>
          <a:prstGeom prst="ellipse">
            <a:avLst/>
          </a:prstGeom>
          <a:solidFill>
            <a:srgbClr val="3B82F6">
              <a:alpha val="113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4" name="Shape 32"/>
          <p:cNvSpPr/>
          <p:nvPr/>
        </p:nvSpPr>
        <p:spPr>
          <a:xfrm>
            <a:off x="5044288" y="3520440"/>
            <a:ext cx="2103120" cy="2103120"/>
          </a:xfrm>
          <a:prstGeom prst="ellipse">
            <a:avLst/>
          </a:prstGeom>
          <a:solidFill>
            <a:srgbClr val="3B82F6">
              <a:alpha val="135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5" name="Shape 33"/>
          <p:cNvSpPr/>
          <p:nvPr/>
        </p:nvSpPr>
        <p:spPr>
          <a:xfrm>
            <a:off x="5307178" y="3783330"/>
            <a:ext cx="1577340" cy="1577340"/>
          </a:xfrm>
          <a:prstGeom prst="ellipse">
            <a:avLst/>
          </a:prstGeom>
          <a:solidFill>
            <a:srgbClr val="3B82F6">
              <a:alpha val="165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6" name="Shape 34"/>
          <p:cNvSpPr/>
          <p:nvPr/>
        </p:nvSpPr>
        <p:spPr>
          <a:xfrm>
            <a:off x="5570068" y="4046220"/>
            <a:ext cx="1051560" cy="1051560"/>
          </a:xfrm>
          <a:prstGeom prst="ellipse">
            <a:avLst/>
          </a:prstGeom>
          <a:solidFill>
            <a:srgbClr val="3B82F6">
              <a:alpha val="21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7" name="Shape 35"/>
          <p:cNvSpPr/>
          <p:nvPr/>
        </p:nvSpPr>
        <p:spPr>
          <a:xfrm>
            <a:off x="5801411" y="4277563"/>
            <a:ext cx="588874" cy="588874"/>
          </a:xfrm>
          <a:prstGeom prst="ellipse">
            <a:avLst/>
          </a:prstGeom>
          <a:solidFill>
            <a:srgbClr val="3B82F6">
              <a:alpha val="275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8" name="Shape 36"/>
          <p:cNvSpPr/>
          <p:nvPr/>
        </p:nvSpPr>
        <p:spPr>
          <a:xfrm>
            <a:off x="6341212" y="2743200"/>
            <a:ext cx="3657600" cy="3657600"/>
          </a:xfrm>
          <a:prstGeom prst="ellipse">
            <a:avLst/>
          </a:prstGeom>
          <a:solidFill>
            <a:srgbClr val="F59E0B">
              <a:alpha val="67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9" name="Shape 37"/>
          <p:cNvSpPr/>
          <p:nvPr/>
        </p:nvSpPr>
        <p:spPr>
          <a:xfrm>
            <a:off x="6569812" y="2971800"/>
            <a:ext cx="3200400" cy="3200400"/>
          </a:xfrm>
          <a:prstGeom prst="ellipse">
            <a:avLst/>
          </a:prstGeom>
          <a:solidFill>
            <a:srgbClr val="F59E0B">
              <a:alpha val="79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0" name="Shape 38"/>
          <p:cNvSpPr/>
          <p:nvPr/>
        </p:nvSpPr>
        <p:spPr>
          <a:xfrm>
            <a:off x="6798412" y="3200400"/>
            <a:ext cx="2743200" cy="2743200"/>
          </a:xfrm>
          <a:prstGeom prst="ellipse">
            <a:avLst/>
          </a:prstGeom>
          <a:solidFill>
            <a:srgbClr val="F59E0B">
              <a:alpha val="92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1" name="Shape 39"/>
          <p:cNvSpPr/>
          <p:nvPr/>
        </p:nvSpPr>
        <p:spPr>
          <a:xfrm>
            <a:off x="7027012" y="3429000"/>
            <a:ext cx="2286000" cy="2286000"/>
          </a:xfrm>
          <a:prstGeom prst="ellipse">
            <a:avLst/>
          </a:prstGeom>
          <a:solidFill>
            <a:srgbClr val="F59E0B">
              <a:alpha val="11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2" name="Shape 40"/>
          <p:cNvSpPr/>
          <p:nvPr/>
        </p:nvSpPr>
        <p:spPr>
          <a:xfrm>
            <a:off x="7255612" y="3657600"/>
            <a:ext cx="1828800" cy="1828800"/>
          </a:xfrm>
          <a:prstGeom prst="ellipse">
            <a:avLst/>
          </a:prstGeom>
          <a:solidFill>
            <a:srgbClr val="F59E0B">
              <a:alpha val="132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3" name="Shape 41"/>
          <p:cNvSpPr/>
          <p:nvPr/>
        </p:nvSpPr>
        <p:spPr>
          <a:xfrm>
            <a:off x="7484212" y="3886200"/>
            <a:ext cx="1371600" cy="1371600"/>
          </a:xfrm>
          <a:prstGeom prst="ellipse">
            <a:avLst/>
          </a:prstGeom>
          <a:solidFill>
            <a:srgbClr val="F59E0B">
              <a:alpha val="162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4" name="Shape 42"/>
          <p:cNvSpPr/>
          <p:nvPr/>
        </p:nvSpPr>
        <p:spPr>
          <a:xfrm>
            <a:off x="7712812" y="4114800"/>
            <a:ext cx="914400" cy="914400"/>
          </a:xfrm>
          <a:prstGeom prst="ellipse">
            <a:avLst/>
          </a:prstGeom>
          <a:solidFill>
            <a:srgbClr val="F59E0B">
              <a:alpha val="207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5" name="Shape 43"/>
          <p:cNvSpPr/>
          <p:nvPr/>
        </p:nvSpPr>
        <p:spPr>
          <a:xfrm>
            <a:off x="7913980" y="4315968"/>
            <a:ext cx="512064" cy="512064"/>
          </a:xfrm>
          <a:prstGeom prst="ellipse">
            <a:avLst/>
          </a:prstGeom>
          <a:solidFill>
            <a:srgbClr val="F59E0B">
              <a:alpha val="27200"/>
            </a:srgbClr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46" name="Image 0" descr="C:/Users/gabri/OneDrive/Documentos/PROJETOS CLAUDE/getshapetraining/materiais/apresentacao-parceria/assets/cap_whitelabel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3174" y="2697480"/>
            <a:ext cx="6285347" cy="37490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0" y="-868680"/>
            <a:ext cx="8778240" cy="8778240"/>
          </a:xfrm>
          <a:prstGeom prst="ellipse">
            <a:avLst/>
          </a:prstGeom>
          <a:solidFill>
            <a:srgbClr val="16A34A">
              <a:alpha val="61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4937760" y="-320040"/>
            <a:ext cx="7680960" cy="7680960"/>
          </a:xfrm>
          <a:prstGeom prst="ellipse">
            <a:avLst/>
          </a:prstGeom>
          <a:solidFill>
            <a:srgbClr val="16A34A">
              <a:alpha val="73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5486400" y="228600"/>
            <a:ext cx="6583680" cy="6583680"/>
          </a:xfrm>
          <a:prstGeom prst="ellipse">
            <a:avLst/>
          </a:prstGeom>
          <a:solidFill>
            <a:srgbClr val="16A34A">
              <a:alpha val="86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6035040" y="777240"/>
            <a:ext cx="5486400" cy="5486400"/>
          </a:xfrm>
          <a:prstGeom prst="ellipse">
            <a:avLst/>
          </a:prstGeom>
          <a:solidFill>
            <a:srgbClr val="16A34A">
              <a:alpha val="104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6583680" y="1325880"/>
            <a:ext cx="4389120" cy="4389120"/>
          </a:xfrm>
          <a:prstGeom prst="ellipse">
            <a:avLst/>
          </a:prstGeom>
          <a:solidFill>
            <a:srgbClr val="16A34A">
              <a:alpha val="126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7132320" y="1874520"/>
            <a:ext cx="3291840" cy="3291840"/>
          </a:xfrm>
          <a:prstGeom prst="ellipse">
            <a:avLst/>
          </a:prstGeom>
          <a:solidFill>
            <a:srgbClr val="16A34A">
              <a:alpha val="156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7680960" y="2423160"/>
            <a:ext cx="2194560" cy="2194560"/>
          </a:xfrm>
          <a:prstGeom prst="ellipse">
            <a:avLst/>
          </a:prstGeom>
          <a:solidFill>
            <a:srgbClr val="16A34A">
              <a:alpha val="201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8163763" y="2905963"/>
            <a:ext cx="1228954" cy="1228954"/>
          </a:xfrm>
          <a:prstGeom prst="ellipse">
            <a:avLst/>
          </a:prstGeom>
          <a:solidFill>
            <a:srgbClr val="16A34A">
              <a:alpha val="266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822960" y="640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FINANCEIRO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109728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Cobra pelo WhatsApp sem controle financeiro?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822960" y="233172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dirty="0">
                <a:solidFill>
                  <a:srgbClr val="A3A3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Receba, controle e cresça. Cobranças, vencimentos e inadimplência direto no painel — automático, profissional, com a sua marca.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68680" y="3776472"/>
            <a:ext cx="201168" cy="201168"/>
          </a:xfrm>
          <a:prstGeom prst="ellipse">
            <a:avLst/>
          </a:prstGeom>
          <a:solidFill>
            <a:srgbClr val="4ADE80">
              <a:alpha val="1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868680" y="3721608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88720" y="3694176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E5E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PIX e cartão tokenizado direto no seu checkout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68680" y="4343400"/>
            <a:ext cx="201168" cy="201168"/>
          </a:xfrm>
          <a:prstGeom prst="ellipse">
            <a:avLst/>
          </a:prstGeom>
          <a:solidFill>
            <a:srgbClr val="4ADE80">
              <a:alpha val="1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868680" y="4288536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88720" y="4261104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E5E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Alerta automático de cobrança vencida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68680" y="4910328"/>
            <a:ext cx="201168" cy="201168"/>
          </a:xfrm>
          <a:prstGeom prst="ellipse">
            <a:avLst/>
          </a:prstGeom>
          <a:solidFill>
            <a:srgbClr val="4ADE80">
              <a:alpha val="1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868680" y="4855464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88720" y="4828032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E5E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Bloqueio de acesso do aluno por inadimplência</a:t>
            </a:r>
            <a:endParaRPr lang="en-US" sz="1400" dirty="0"/>
          </a:p>
        </p:txBody>
      </p:sp>
      <p:pic>
        <p:nvPicPr>
          <p:cNvPr id="22" name="Image 0" descr="C:/Users/gabri/OneDrive/Documentos/PROJETOS CLAUDE/getshapetraining/materiais/apresentacao-parceria/assets/cap_financeiro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1475" y="1801368"/>
            <a:ext cx="6253530" cy="343814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0" y="-978408"/>
            <a:ext cx="8778240" cy="8778240"/>
          </a:xfrm>
          <a:prstGeom prst="ellipse">
            <a:avLst/>
          </a:prstGeom>
          <a:solidFill>
            <a:srgbClr val="16A34A">
              <a:alpha val="61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4937760" y="-429768"/>
            <a:ext cx="7680960" cy="7680960"/>
          </a:xfrm>
          <a:prstGeom prst="ellipse">
            <a:avLst/>
          </a:prstGeom>
          <a:solidFill>
            <a:srgbClr val="16A34A">
              <a:alpha val="73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5486400" y="118872"/>
            <a:ext cx="6583680" cy="6583680"/>
          </a:xfrm>
          <a:prstGeom prst="ellipse">
            <a:avLst/>
          </a:prstGeom>
          <a:solidFill>
            <a:srgbClr val="16A34A">
              <a:alpha val="86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6035040" y="667512"/>
            <a:ext cx="5486400" cy="5486400"/>
          </a:xfrm>
          <a:prstGeom prst="ellipse">
            <a:avLst/>
          </a:prstGeom>
          <a:solidFill>
            <a:srgbClr val="16A34A">
              <a:alpha val="104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6583680" y="1216152"/>
            <a:ext cx="4389120" cy="4389120"/>
          </a:xfrm>
          <a:prstGeom prst="ellipse">
            <a:avLst/>
          </a:prstGeom>
          <a:solidFill>
            <a:srgbClr val="16A34A">
              <a:alpha val="126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7132320" y="1764792"/>
            <a:ext cx="3291840" cy="3291840"/>
          </a:xfrm>
          <a:prstGeom prst="ellipse">
            <a:avLst/>
          </a:prstGeom>
          <a:solidFill>
            <a:srgbClr val="16A34A">
              <a:alpha val="156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7680960" y="2313432"/>
            <a:ext cx="2194560" cy="2194560"/>
          </a:xfrm>
          <a:prstGeom prst="ellipse">
            <a:avLst/>
          </a:prstGeom>
          <a:solidFill>
            <a:srgbClr val="16A34A">
              <a:alpha val="201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8163763" y="2796235"/>
            <a:ext cx="1228954" cy="1228954"/>
          </a:xfrm>
          <a:prstGeom prst="ellipse">
            <a:avLst/>
          </a:prstGeom>
          <a:solidFill>
            <a:srgbClr val="16A34A">
              <a:alpha val="266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822960" y="640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PAINEL DO TREINADOR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109728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Comande sua consultoria como uma empresa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822960" y="233172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dirty="0">
                <a:solidFill>
                  <a:srgbClr val="A3A3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Visão completa dos seus clientes, cobranças, anamneses e atualizações pendentes — tudo num só lugar, em tempo real.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68680" y="3776472"/>
            <a:ext cx="201168" cy="201168"/>
          </a:xfrm>
          <a:prstGeom prst="ellipse">
            <a:avLst/>
          </a:prstGeom>
          <a:solidFill>
            <a:srgbClr val="4ADE80">
              <a:alpha val="1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868680" y="3721608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88720" y="3694176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E5E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Veja em um único lugar clientes ativos, anamneses e planos vencendo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68680" y="4343400"/>
            <a:ext cx="201168" cy="201168"/>
          </a:xfrm>
          <a:prstGeom prst="ellipse">
            <a:avLst/>
          </a:prstGeom>
          <a:solidFill>
            <a:srgbClr val="4ADE80">
              <a:alpha val="1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868680" y="4288536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88720" y="4261104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E5E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Menos tempo operacional, mais tempo treinando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68680" y="4910328"/>
            <a:ext cx="201168" cy="201168"/>
          </a:xfrm>
          <a:prstGeom prst="ellipse">
            <a:avLst/>
          </a:prstGeom>
          <a:solidFill>
            <a:srgbClr val="4ADE80">
              <a:alpha val="1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868680" y="4855464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88720" y="4828032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E5E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 sem perder controle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989320" y="118872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 tarde, Diego!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989320" y="1444752"/>
            <a:ext cx="5577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D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Visão geral de hoje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989320" y="1645920"/>
            <a:ext cx="3669792" cy="1596542"/>
          </a:xfrm>
          <a:prstGeom prst="roundRect">
            <a:avLst>
              <a:gd name="adj" fmla="val 6873"/>
            </a:avLst>
          </a:prstGeom>
          <a:solidFill>
            <a:srgbClr val="17191A"/>
          </a:solidFill>
          <a:ln w="12700">
            <a:solidFill>
              <a:srgbClr val="27292B"/>
            </a:solidFill>
            <a:prstDash val="solid"/>
          </a:ln>
          <a:effectLst>
            <a:outerShdw blurRad="254000" dist="101600" dir="54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6172200" y="1828800"/>
            <a:ext cx="3304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8A8D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FINANCEIRO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172200" y="2029968"/>
            <a:ext cx="3304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R$ 23.650,00</a:t>
            </a:r>
            <a:r>
              <a:rPr lang="en-US" sz="1000" dirty="0">
                <a:solidFill>
                  <a:srgbClr val="8A8D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recebido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6172200" y="2322576"/>
            <a:ext cx="3304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R$ 480</a:t>
            </a:r>
            <a:r>
              <a:rPr lang="en-US" sz="850" dirty="0">
                <a:solidFill>
                  <a:srgbClr val="8A8D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pendente   </a:t>
            </a:r>
            <a:r>
              <a:rPr lang="en-US" sz="115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R$ 0</a:t>
            </a:r>
            <a:r>
              <a:rPr lang="en-US" sz="850" dirty="0">
                <a:solidFill>
                  <a:srgbClr val="8A8D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vencido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172200" y="2785262"/>
            <a:ext cx="2755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8D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Taxa de recebimento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8927592" y="278526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98%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172200" y="2986430"/>
            <a:ext cx="3304032" cy="64008"/>
          </a:xfrm>
          <a:prstGeom prst="roundRect">
            <a:avLst>
              <a:gd name="adj" fmla="val 50000"/>
            </a:avLst>
          </a:prstGeom>
          <a:solidFill>
            <a:srgbClr val="23262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1" name="Shape 29"/>
          <p:cNvSpPr/>
          <p:nvPr/>
        </p:nvSpPr>
        <p:spPr>
          <a:xfrm>
            <a:off x="6172200" y="2986430"/>
            <a:ext cx="3237951" cy="64008"/>
          </a:xfrm>
          <a:prstGeom prst="roundRect">
            <a:avLst>
              <a:gd name="adj" fmla="val 50000"/>
            </a:avLst>
          </a:prstGeom>
          <a:solidFill>
            <a:srgbClr val="4ADE8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2" name="Shape 30"/>
          <p:cNvSpPr/>
          <p:nvPr/>
        </p:nvSpPr>
        <p:spPr>
          <a:xfrm>
            <a:off x="9805416" y="1645920"/>
            <a:ext cx="1761744" cy="725119"/>
          </a:xfrm>
          <a:prstGeom prst="roundRect">
            <a:avLst>
              <a:gd name="adj" fmla="val 10088"/>
            </a:avLst>
          </a:prstGeom>
          <a:solidFill>
            <a:srgbClr val="141417"/>
          </a:solidFill>
          <a:ln w="12700">
            <a:solidFill>
              <a:srgbClr val="23232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Text 31"/>
          <p:cNvSpPr/>
          <p:nvPr/>
        </p:nvSpPr>
        <p:spPr>
          <a:xfrm>
            <a:off x="9942576" y="1773936"/>
            <a:ext cx="1487424" cy="362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9942576" y="2066489"/>
            <a:ext cx="1487424" cy="24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A3A3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Clientes Ativos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9805416" y="2517343"/>
            <a:ext cx="1761744" cy="725119"/>
          </a:xfrm>
          <a:prstGeom prst="roundRect">
            <a:avLst>
              <a:gd name="adj" fmla="val 10088"/>
            </a:avLst>
          </a:prstGeom>
          <a:solidFill>
            <a:srgbClr val="141417"/>
          </a:solidFill>
          <a:ln w="12700">
            <a:solidFill>
              <a:srgbClr val="23232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" name="Text 34"/>
          <p:cNvSpPr/>
          <p:nvPr/>
        </p:nvSpPr>
        <p:spPr>
          <a:xfrm>
            <a:off x="9942576" y="2645359"/>
            <a:ext cx="1487424" cy="362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9942576" y="2937912"/>
            <a:ext cx="1487424" cy="24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A3A3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Mensagens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989320" y="3388766"/>
            <a:ext cx="1761744" cy="842620"/>
          </a:xfrm>
          <a:prstGeom prst="roundRect">
            <a:avLst>
              <a:gd name="adj" fmla="val 8681"/>
            </a:avLst>
          </a:prstGeom>
          <a:solidFill>
            <a:srgbClr val="141417"/>
          </a:solidFill>
          <a:ln w="12700">
            <a:solidFill>
              <a:srgbClr val="23232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9" name="Text 37"/>
          <p:cNvSpPr/>
          <p:nvPr/>
        </p:nvSpPr>
        <p:spPr>
          <a:xfrm>
            <a:off x="6126480" y="3516782"/>
            <a:ext cx="1487424" cy="421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6126480" y="3877486"/>
            <a:ext cx="1487424" cy="286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A3A3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Atualizações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7897368" y="3388766"/>
            <a:ext cx="1761744" cy="842620"/>
          </a:xfrm>
          <a:prstGeom prst="roundRect">
            <a:avLst>
              <a:gd name="adj" fmla="val 8681"/>
            </a:avLst>
          </a:prstGeom>
          <a:solidFill>
            <a:srgbClr val="141417"/>
          </a:solidFill>
          <a:ln w="12700">
            <a:solidFill>
              <a:srgbClr val="23232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2" name="Text 40"/>
          <p:cNvSpPr/>
          <p:nvPr/>
        </p:nvSpPr>
        <p:spPr>
          <a:xfrm>
            <a:off x="8034528" y="3516782"/>
            <a:ext cx="1487424" cy="421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8034528" y="3877486"/>
            <a:ext cx="1487424" cy="286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A3A3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Calls hoje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9805416" y="3388766"/>
            <a:ext cx="1761744" cy="842620"/>
          </a:xfrm>
          <a:prstGeom prst="roundRect">
            <a:avLst>
              <a:gd name="adj" fmla="val 8681"/>
            </a:avLst>
          </a:prstGeom>
          <a:solidFill>
            <a:srgbClr val="141417"/>
          </a:solidFill>
          <a:ln w="12700">
            <a:solidFill>
              <a:srgbClr val="23232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5" name="Text 43"/>
          <p:cNvSpPr/>
          <p:nvPr/>
        </p:nvSpPr>
        <p:spPr>
          <a:xfrm>
            <a:off x="9942576" y="3516782"/>
            <a:ext cx="1487424" cy="421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46" name="Text 44"/>
          <p:cNvSpPr/>
          <p:nvPr/>
        </p:nvSpPr>
        <p:spPr>
          <a:xfrm>
            <a:off x="9942576" y="3877486"/>
            <a:ext cx="1487424" cy="286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A3A3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Anamneses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5989320" y="4377690"/>
            <a:ext cx="5577840" cy="1099566"/>
          </a:xfrm>
          <a:prstGeom prst="roundRect">
            <a:avLst>
              <a:gd name="adj" fmla="val 9979"/>
            </a:avLst>
          </a:prstGeom>
          <a:solidFill>
            <a:srgbClr val="17191A"/>
          </a:solidFill>
          <a:ln w="12700">
            <a:solidFill>
              <a:srgbClr val="27292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8" name="Text 46"/>
          <p:cNvSpPr/>
          <p:nvPr/>
        </p:nvSpPr>
        <p:spPr>
          <a:xfrm>
            <a:off x="6172200" y="4505706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Planos Vencendo  </a:t>
            </a:r>
            <a:r>
              <a:rPr lang="en-US" sz="9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172200" y="4798314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4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Juliana Prado — vence em 3 dias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172200" y="5054346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4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Thiago Nunes — vence em 6 dias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A ORBI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109728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Ainda manda treino por PDF?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233172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dirty="0">
                <a:solidFill>
                  <a:srgbClr val="A3A3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Treinos personalizados direto no app — com vídeo de execução e séries organizadas por tipo (warm-up, feeder, work set, técnicas avançadas), registradas automaticamente.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68680" y="3776472"/>
            <a:ext cx="201168" cy="201168"/>
          </a:xfrm>
          <a:prstGeom prst="ellipse">
            <a:avLst/>
          </a:prstGeom>
          <a:solidFill>
            <a:srgbClr val="4ADE80">
              <a:alpha val="1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868680" y="3721608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88720" y="3694176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E5E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Progressão de carga registrada sozinha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68680" y="4343400"/>
            <a:ext cx="201168" cy="201168"/>
          </a:xfrm>
          <a:prstGeom prst="ellipse">
            <a:avLst/>
          </a:prstGeom>
          <a:solidFill>
            <a:srgbClr val="4ADE80">
              <a:alpha val="1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868680" y="4288536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88720" y="4261104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E5E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PDF, zero print de planilha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054328" y="251460"/>
            <a:ext cx="6217920" cy="6217920"/>
          </a:xfrm>
          <a:prstGeom prst="ellipse">
            <a:avLst/>
          </a:prstGeom>
          <a:solidFill>
            <a:srgbClr val="16A34A">
              <a:alpha val="64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6442948" y="640080"/>
            <a:ext cx="5440680" cy="5440680"/>
          </a:xfrm>
          <a:prstGeom prst="ellipse">
            <a:avLst/>
          </a:prstGeom>
          <a:solidFill>
            <a:srgbClr val="16A34A">
              <a:alpha val="76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6831568" y="1028700"/>
            <a:ext cx="4663440" cy="4663440"/>
          </a:xfrm>
          <a:prstGeom prst="ellipse">
            <a:avLst/>
          </a:prstGeom>
          <a:solidFill>
            <a:srgbClr val="16A34A">
              <a:alpha val="89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7220188" y="1417320"/>
            <a:ext cx="3886200" cy="3886200"/>
          </a:xfrm>
          <a:prstGeom prst="ellipse">
            <a:avLst/>
          </a:prstGeom>
          <a:solidFill>
            <a:srgbClr val="16A34A">
              <a:alpha val="107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7608808" y="1805940"/>
            <a:ext cx="3108960" cy="3108960"/>
          </a:xfrm>
          <a:prstGeom prst="ellipse">
            <a:avLst/>
          </a:prstGeom>
          <a:solidFill>
            <a:srgbClr val="16A34A">
              <a:alpha val="129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7997428" y="2194560"/>
            <a:ext cx="2331720" cy="2331720"/>
          </a:xfrm>
          <a:prstGeom prst="ellipse">
            <a:avLst/>
          </a:prstGeom>
          <a:solidFill>
            <a:srgbClr val="16A34A">
              <a:alpha val="159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8386048" y="2583180"/>
            <a:ext cx="1554480" cy="1554480"/>
          </a:xfrm>
          <a:prstGeom prst="ellipse">
            <a:avLst/>
          </a:prstGeom>
          <a:solidFill>
            <a:srgbClr val="16A34A">
              <a:alpha val="204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8728034" y="2925166"/>
            <a:ext cx="870509" cy="870509"/>
          </a:xfrm>
          <a:prstGeom prst="ellipse">
            <a:avLst/>
          </a:prstGeom>
          <a:solidFill>
            <a:srgbClr val="16A34A">
              <a:alpha val="26900"/>
            </a:srgbClr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9" name="Image 0" descr="C:/Users/gabri/OneDrive/Documentos/PROJETOS CLAUDE/getshapetraining/materiais/apresentacao-parceria/assets/cap_treino_mock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914400"/>
            <a:ext cx="2598896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DO ALUNO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109728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Tudo que seu aluno precisa, num único app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233172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dirty="0">
                <a:solidFill>
                  <a:srgbClr val="A3A3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Treino com vídeo, dieta com substituição, cardio prescrito e evolução de carga — direto no celular, com a sua marca.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68680" y="3822192"/>
            <a:ext cx="201168" cy="201168"/>
          </a:xfrm>
          <a:prstGeom prst="ellipse">
            <a:avLst/>
          </a:prstGeom>
          <a:solidFill>
            <a:srgbClr val="4ADE80">
              <a:alpha val="1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868680" y="3767328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88720" y="3739896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E5E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Experiência premium retém aluno por mais tempo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68680" y="4389120"/>
            <a:ext cx="201168" cy="201168"/>
          </a:xfrm>
          <a:prstGeom prst="ellipse">
            <a:avLst/>
          </a:prstGeom>
          <a:solidFill>
            <a:srgbClr val="4ADE80">
              <a:alpha val="1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868680" y="4334256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88720" y="4306824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E5E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Menos dúvida, menos mensagem, mais autonomia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304949" y="960120"/>
            <a:ext cx="4754880" cy="4754880"/>
          </a:xfrm>
          <a:prstGeom prst="ellipse">
            <a:avLst/>
          </a:prstGeom>
          <a:solidFill>
            <a:srgbClr val="16A34A">
              <a:alpha val="61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5602129" y="1257300"/>
            <a:ext cx="4160520" cy="4160520"/>
          </a:xfrm>
          <a:prstGeom prst="ellipse">
            <a:avLst/>
          </a:prstGeom>
          <a:solidFill>
            <a:srgbClr val="16A34A">
              <a:alpha val="73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5899309" y="1554480"/>
            <a:ext cx="3566160" cy="3566160"/>
          </a:xfrm>
          <a:prstGeom prst="ellipse">
            <a:avLst/>
          </a:prstGeom>
          <a:solidFill>
            <a:srgbClr val="16A34A">
              <a:alpha val="86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6196489" y="1851660"/>
            <a:ext cx="2971800" cy="2971800"/>
          </a:xfrm>
          <a:prstGeom prst="ellipse">
            <a:avLst/>
          </a:prstGeom>
          <a:solidFill>
            <a:srgbClr val="16A34A">
              <a:alpha val="104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6493669" y="2148840"/>
            <a:ext cx="2377440" cy="2377440"/>
          </a:xfrm>
          <a:prstGeom prst="ellipse">
            <a:avLst/>
          </a:prstGeom>
          <a:solidFill>
            <a:srgbClr val="16A34A">
              <a:alpha val="126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6790849" y="2446020"/>
            <a:ext cx="1783080" cy="1783080"/>
          </a:xfrm>
          <a:prstGeom prst="ellipse">
            <a:avLst/>
          </a:prstGeom>
          <a:solidFill>
            <a:srgbClr val="16A34A">
              <a:alpha val="156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7088029" y="2743200"/>
            <a:ext cx="1188720" cy="1188720"/>
          </a:xfrm>
          <a:prstGeom prst="ellipse">
            <a:avLst/>
          </a:prstGeom>
          <a:solidFill>
            <a:srgbClr val="16A34A">
              <a:alpha val="201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7349547" y="3004718"/>
            <a:ext cx="665683" cy="665683"/>
          </a:xfrm>
          <a:prstGeom prst="ellipse">
            <a:avLst/>
          </a:prstGeom>
          <a:solidFill>
            <a:srgbClr val="16A34A">
              <a:alpha val="266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8096726" y="960120"/>
            <a:ext cx="4754880" cy="4754880"/>
          </a:xfrm>
          <a:prstGeom prst="ellipse">
            <a:avLst/>
          </a:prstGeom>
          <a:solidFill>
            <a:srgbClr val="16A34A">
              <a:alpha val="61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8393906" y="1257300"/>
            <a:ext cx="4160520" cy="4160520"/>
          </a:xfrm>
          <a:prstGeom prst="ellipse">
            <a:avLst/>
          </a:prstGeom>
          <a:solidFill>
            <a:srgbClr val="16A34A">
              <a:alpha val="73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8691086" y="1554480"/>
            <a:ext cx="3566160" cy="3566160"/>
          </a:xfrm>
          <a:prstGeom prst="ellipse">
            <a:avLst/>
          </a:prstGeom>
          <a:solidFill>
            <a:srgbClr val="16A34A">
              <a:alpha val="86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8988266" y="1851660"/>
            <a:ext cx="2971800" cy="2971800"/>
          </a:xfrm>
          <a:prstGeom prst="ellipse">
            <a:avLst/>
          </a:prstGeom>
          <a:solidFill>
            <a:srgbClr val="16A34A">
              <a:alpha val="104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Shape 21"/>
          <p:cNvSpPr/>
          <p:nvPr/>
        </p:nvSpPr>
        <p:spPr>
          <a:xfrm>
            <a:off x="9285446" y="2148840"/>
            <a:ext cx="2377440" cy="2377440"/>
          </a:xfrm>
          <a:prstGeom prst="ellipse">
            <a:avLst/>
          </a:prstGeom>
          <a:solidFill>
            <a:srgbClr val="16A34A">
              <a:alpha val="126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Shape 22"/>
          <p:cNvSpPr/>
          <p:nvPr/>
        </p:nvSpPr>
        <p:spPr>
          <a:xfrm>
            <a:off x="9582626" y="2446020"/>
            <a:ext cx="1783080" cy="1783080"/>
          </a:xfrm>
          <a:prstGeom prst="ellipse">
            <a:avLst/>
          </a:prstGeom>
          <a:solidFill>
            <a:srgbClr val="16A34A">
              <a:alpha val="156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9879806" y="2743200"/>
            <a:ext cx="1188720" cy="1188720"/>
          </a:xfrm>
          <a:prstGeom prst="ellipse">
            <a:avLst/>
          </a:prstGeom>
          <a:solidFill>
            <a:srgbClr val="16A34A">
              <a:alpha val="201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10141325" y="3004718"/>
            <a:ext cx="665683" cy="665683"/>
          </a:xfrm>
          <a:prstGeom prst="ellipse">
            <a:avLst/>
          </a:prstGeom>
          <a:solidFill>
            <a:srgbClr val="16A34A">
              <a:alpha val="26600"/>
            </a:srgbClr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7" name="Image 0" descr="C:/Users/gabri/OneDrive/Documentos/PROJETOS CLAUDE/getshapetraining/materiais/apresentacao-parceria/assets/cap_dashboardaluno_mock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097280"/>
            <a:ext cx="2380298" cy="4480560"/>
          </a:xfrm>
          <a:prstGeom prst="rect">
            <a:avLst/>
          </a:prstGeom>
        </p:spPr>
      </p:pic>
      <p:pic>
        <p:nvPicPr>
          <p:cNvPr id="28" name="Image 1" descr="C:/Users/gabri/OneDrive/Documentos/PROJETOS CLAUDE/getshapetraining/materiais/apresentacao-parceria/assets/cap_dieta_mocku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4018" y="1097280"/>
            <a:ext cx="2380298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DO ALUNO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109728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Cardio prescrito e evolução, sempre à mão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233172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dirty="0">
                <a:solidFill>
                  <a:srgbClr val="A3A3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Sessão de cardio com intensidade prescrita e histórico de carga por exercício — o aluno vê a própria evolução, sem precisar perguntar pra você.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68680" y="3822192"/>
            <a:ext cx="201168" cy="201168"/>
          </a:xfrm>
          <a:prstGeom prst="ellipse">
            <a:avLst/>
          </a:prstGeom>
          <a:solidFill>
            <a:srgbClr val="4ADE80">
              <a:alpha val="1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868680" y="3767328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88720" y="3739896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E5E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Motivação: progresso visível reduz desistência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68680" y="4389120"/>
            <a:ext cx="201168" cy="201168"/>
          </a:xfrm>
          <a:prstGeom prst="ellipse">
            <a:avLst/>
          </a:prstGeom>
          <a:solidFill>
            <a:srgbClr val="4ADE80">
              <a:alpha val="1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868680" y="4334256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88720" y="4306824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E5E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Cardio prescrito, não genérico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304949" y="960120"/>
            <a:ext cx="4754880" cy="4754880"/>
          </a:xfrm>
          <a:prstGeom prst="ellipse">
            <a:avLst/>
          </a:prstGeom>
          <a:solidFill>
            <a:srgbClr val="16A34A">
              <a:alpha val="61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5602129" y="1257300"/>
            <a:ext cx="4160520" cy="4160520"/>
          </a:xfrm>
          <a:prstGeom prst="ellipse">
            <a:avLst/>
          </a:prstGeom>
          <a:solidFill>
            <a:srgbClr val="16A34A">
              <a:alpha val="73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5899309" y="1554480"/>
            <a:ext cx="3566160" cy="3566160"/>
          </a:xfrm>
          <a:prstGeom prst="ellipse">
            <a:avLst/>
          </a:prstGeom>
          <a:solidFill>
            <a:srgbClr val="16A34A">
              <a:alpha val="86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6196489" y="1851660"/>
            <a:ext cx="2971800" cy="2971800"/>
          </a:xfrm>
          <a:prstGeom prst="ellipse">
            <a:avLst/>
          </a:prstGeom>
          <a:solidFill>
            <a:srgbClr val="16A34A">
              <a:alpha val="104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6493669" y="2148840"/>
            <a:ext cx="2377440" cy="2377440"/>
          </a:xfrm>
          <a:prstGeom prst="ellipse">
            <a:avLst/>
          </a:prstGeom>
          <a:solidFill>
            <a:srgbClr val="16A34A">
              <a:alpha val="126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6790849" y="2446020"/>
            <a:ext cx="1783080" cy="1783080"/>
          </a:xfrm>
          <a:prstGeom prst="ellipse">
            <a:avLst/>
          </a:prstGeom>
          <a:solidFill>
            <a:srgbClr val="16A34A">
              <a:alpha val="156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7088029" y="2743200"/>
            <a:ext cx="1188720" cy="1188720"/>
          </a:xfrm>
          <a:prstGeom prst="ellipse">
            <a:avLst/>
          </a:prstGeom>
          <a:solidFill>
            <a:srgbClr val="16A34A">
              <a:alpha val="201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7349547" y="3004718"/>
            <a:ext cx="665683" cy="665683"/>
          </a:xfrm>
          <a:prstGeom prst="ellipse">
            <a:avLst/>
          </a:prstGeom>
          <a:solidFill>
            <a:srgbClr val="16A34A">
              <a:alpha val="266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8096726" y="960120"/>
            <a:ext cx="4754880" cy="4754880"/>
          </a:xfrm>
          <a:prstGeom prst="ellipse">
            <a:avLst/>
          </a:prstGeom>
          <a:solidFill>
            <a:srgbClr val="16A34A">
              <a:alpha val="61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8393906" y="1257300"/>
            <a:ext cx="4160520" cy="4160520"/>
          </a:xfrm>
          <a:prstGeom prst="ellipse">
            <a:avLst/>
          </a:prstGeom>
          <a:solidFill>
            <a:srgbClr val="16A34A">
              <a:alpha val="73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8691086" y="1554480"/>
            <a:ext cx="3566160" cy="3566160"/>
          </a:xfrm>
          <a:prstGeom prst="ellipse">
            <a:avLst/>
          </a:prstGeom>
          <a:solidFill>
            <a:srgbClr val="16A34A">
              <a:alpha val="86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8988266" y="1851660"/>
            <a:ext cx="2971800" cy="2971800"/>
          </a:xfrm>
          <a:prstGeom prst="ellipse">
            <a:avLst/>
          </a:prstGeom>
          <a:solidFill>
            <a:srgbClr val="16A34A">
              <a:alpha val="104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Shape 21"/>
          <p:cNvSpPr/>
          <p:nvPr/>
        </p:nvSpPr>
        <p:spPr>
          <a:xfrm>
            <a:off x="9285446" y="2148840"/>
            <a:ext cx="2377440" cy="2377440"/>
          </a:xfrm>
          <a:prstGeom prst="ellipse">
            <a:avLst/>
          </a:prstGeom>
          <a:solidFill>
            <a:srgbClr val="16A34A">
              <a:alpha val="126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Shape 22"/>
          <p:cNvSpPr/>
          <p:nvPr/>
        </p:nvSpPr>
        <p:spPr>
          <a:xfrm>
            <a:off x="9582626" y="2446020"/>
            <a:ext cx="1783080" cy="1783080"/>
          </a:xfrm>
          <a:prstGeom prst="ellipse">
            <a:avLst/>
          </a:prstGeom>
          <a:solidFill>
            <a:srgbClr val="16A34A">
              <a:alpha val="156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9879806" y="2743200"/>
            <a:ext cx="1188720" cy="1188720"/>
          </a:xfrm>
          <a:prstGeom prst="ellipse">
            <a:avLst/>
          </a:prstGeom>
          <a:solidFill>
            <a:srgbClr val="16A34A">
              <a:alpha val="201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10141325" y="3004718"/>
            <a:ext cx="665683" cy="665683"/>
          </a:xfrm>
          <a:prstGeom prst="ellipse">
            <a:avLst/>
          </a:prstGeom>
          <a:solidFill>
            <a:srgbClr val="16A34A">
              <a:alpha val="26600"/>
            </a:srgbClr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7" name="Image 0" descr="C:/Users/gabri/OneDrive/Documentos/PROJETOS CLAUDE/getshapetraining/materiais/apresentacao-parceria/assets/cap_cardio_mock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097280"/>
            <a:ext cx="2380298" cy="4480560"/>
          </a:xfrm>
          <a:prstGeom prst="rect">
            <a:avLst/>
          </a:prstGeom>
        </p:spPr>
      </p:pic>
      <p:pic>
        <p:nvPicPr>
          <p:cNvPr id="28" name="Image 1" descr="C:/Users/gabri/OneDrive/Documentos/PROJETOS CLAUDE/getshapetraining/materiais/apresentacao-parceria/assets/cap_evolucao_mocku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4018" y="1097280"/>
            <a:ext cx="2380298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737360" y="-182880"/>
            <a:ext cx="8778240" cy="8778240"/>
          </a:xfrm>
          <a:prstGeom prst="ellipse">
            <a:avLst/>
          </a:prstGeom>
          <a:solidFill>
            <a:srgbClr val="16A34A">
              <a:alpha val="61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2286000" y="365760"/>
            <a:ext cx="7680960" cy="7680960"/>
          </a:xfrm>
          <a:prstGeom prst="ellipse">
            <a:avLst/>
          </a:prstGeom>
          <a:solidFill>
            <a:srgbClr val="16A34A">
              <a:alpha val="73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2834640" y="914400"/>
            <a:ext cx="6583680" cy="6583680"/>
          </a:xfrm>
          <a:prstGeom prst="ellipse">
            <a:avLst/>
          </a:prstGeom>
          <a:solidFill>
            <a:srgbClr val="16A34A">
              <a:alpha val="86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3383280" y="1463040"/>
            <a:ext cx="5486400" cy="5486400"/>
          </a:xfrm>
          <a:prstGeom prst="ellipse">
            <a:avLst/>
          </a:prstGeom>
          <a:solidFill>
            <a:srgbClr val="16A34A">
              <a:alpha val="104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3931920" y="2011680"/>
            <a:ext cx="4389120" cy="4389120"/>
          </a:xfrm>
          <a:prstGeom prst="ellipse">
            <a:avLst/>
          </a:prstGeom>
          <a:solidFill>
            <a:srgbClr val="16A34A">
              <a:alpha val="126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4480560" y="2560320"/>
            <a:ext cx="3291840" cy="3291840"/>
          </a:xfrm>
          <a:prstGeom prst="ellipse">
            <a:avLst/>
          </a:prstGeom>
          <a:solidFill>
            <a:srgbClr val="16A34A">
              <a:alpha val="156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5029200" y="3108960"/>
            <a:ext cx="2194560" cy="2194560"/>
          </a:xfrm>
          <a:prstGeom prst="ellipse">
            <a:avLst/>
          </a:prstGeom>
          <a:solidFill>
            <a:srgbClr val="16A34A">
              <a:alpha val="201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5512003" y="3591763"/>
            <a:ext cx="1228954" cy="1228954"/>
          </a:xfrm>
          <a:prstGeom prst="ellipse">
            <a:avLst/>
          </a:prstGeom>
          <a:solidFill>
            <a:srgbClr val="16A34A">
              <a:alpha val="266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2468880" y="60390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COLABORADORES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95400" y="534441"/>
            <a:ext cx="9601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Sua equipe inteira, numa só plataforma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554480" y="106309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50" dirty="0">
                <a:solidFill>
                  <a:srgbClr val="A3A3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Treinadores, nutricionistas e estagiários — cada um com o acesso certo.</a:t>
            </a:r>
            <a:endParaRPr lang="en-US" sz="1450" dirty="0"/>
          </a:p>
        </p:txBody>
      </p:sp>
      <p:pic>
        <p:nvPicPr>
          <p:cNvPr id="13" name="Image 0" descr="C:/Users/gabri/OneDrive/Documentos/PROJETOS CLAUDE/getshapetraining/materiais/apresentacao-parceria/assets/cap_colaboradores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5302" y="1771779"/>
            <a:ext cx="6962355" cy="4482016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1188720" y="6336792"/>
            <a:ext cx="201168" cy="201168"/>
          </a:xfrm>
          <a:prstGeom prst="ellipse">
            <a:avLst/>
          </a:prstGeom>
          <a:solidFill>
            <a:srgbClr val="4ADE80">
              <a:alpha val="1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1188720" y="6281928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508760" y="6254496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E5E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Permissões granulares por colaborador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617720" y="6336792"/>
            <a:ext cx="201168" cy="201168"/>
          </a:xfrm>
          <a:prstGeom prst="ellipse">
            <a:avLst/>
          </a:prstGeom>
          <a:solidFill>
            <a:srgbClr val="4ADE80">
              <a:alpha val="1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5"/>
          <p:cNvSpPr/>
          <p:nvPr/>
        </p:nvSpPr>
        <p:spPr>
          <a:xfrm>
            <a:off x="4617720" y="6281928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937760" y="6254496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E5E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Multi-profissional no mesmo painel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8046720" y="6336792"/>
            <a:ext cx="201168" cy="201168"/>
          </a:xfrm>
          <a:prstGeom prst="ellipse">
            <a:avLst/>
          </a:prstGeom>
          <a:solidFill>
            <a:srgbClr val="4ADE80">
              <a:alpha val="1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8"/>
          <p:cNvSpPr/>
          <p:nvPr/>
        </p:nvSpPr>
        <p:spPr>
          <a:xfrm>
            <a:off x="8046720" y="6281928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8366760" y="6254496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E5E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Financeiro visível só pra você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-1600200"/>
            <a:ext cx="10058400" cy="10058400"/>
          </a:xfrm>
          <a:prstGeom prst="ellipse">
            <a:avLst/>
          </a:prstGeom>
          <a:solidFill>
            <a:srgbClr val="16A34A">
              <a:alpha val="55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1634490" y="-971550"/>
            <a:ext cx="8801100" cy="8801100"/>
          </a:xfrm>
          <a:prstGeom prst="ellipse">
            <a:avLst/>
          </a:prstGeom>
          <a:solidFill>
            <a:srgbClr val="16A34A">
              <a:alpha val="67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2263140" y="-342900"/>
            <a:ext cx="7543800" cy="7543800"/>
          </a:xfrm>
          <a:prstGeom prst="ellipse">
            <a:avLst/>
          </a:prstGeom>
          <a:solidFill>
            <a:srgbClr val="16A34A">
              <a:alpha val="8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2891790" y="285750"/>
            <a:ext cx="6286500" cy="6286500"/>
          </a:xfrm>
          <a:prstGeom prst="ellipse">
            <a:avLst/>
          </a:prstGeom>
          <a:solidFill>
            <a:srgbClr val="16A34A">
              <a:alpha val="98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3520440" y="914400"/>
            <a:ext cx="5029200" cy="5029200"/>
          </a:xfrm>
          <a:prstGeom prst="ellipse">
            <a:avLst/>
          </a:prstGeom>
          <a:solidFill>
            <a:srgbClr val="16A34A">
              <a:alpha val="1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4149090" y="1543050"/>
            <a:ext cx="3771900" cy="3771900"/>
          </a:xfrm>
          <a:prstGeom prst="ellipse">
            <a:avLst/>
          </a:prstGeom>
          <a:solidFill>
            <a:srgbClr val="16A34A">
              <a:alpha val="1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4777740" y="2171700"/>
            <a:ext cx="2514600" cy="2514600"/>
          </a:xfrm>
          <a:prstGeom prst="ellipse">
            <a:avLst/>
          </a:prstGeom>
          <a:solidFill>
            <a:srgbClr val="16A34A">
              <a:alpha val="195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5330952" y="2724912"/>
            <a:ext cx="1408176" cy="1408176"/>
          </a:xfrm>
          <a:prstGeom prst="ellipse">
            <a:avLst/>
          </a:prstGeom>
          <a:solidFill>
            <a:srgbClr val="16A34A">
              <a:alpha val="26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1188720" y="1188720"/>
            <a:ext cx="9811512" cy="4480560"/>
          </a:xfrm>
          <a:prstGeom prst="roundRect">
            <a:avLst>
              <a:gd name="adj" fmla="val 3061"/>
            </a:avLst>
          </a:prstGeom>
          <a:solidFill>
            <a:srgbClr val="141417"/>
          </a:solidFill>
          <a:ln w="19050">
            <a:solidFill>
              <a:srgbClr val="16A34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1737360" y="169164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 sem compromisso.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194560" y="23317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500" dirty="0">
                <a:solidFill>
                  <a:srgbClr val="A3A3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dias grátis pra usar de verdade, com sua base real. Primeiro mês sai por R$5 no cartão, depois valor cheio — sem fidelidade.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965960" y="352044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1965960" y="43434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00" dirty="0">
                <a:solidFill>
                  <a:srgbClr val="A3A3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dias grátis</a:t>
            </a:r>
            <a:endParaRPr lang="en-US" sz="13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300" dirty="0">
                <a:solidFill>
                  <a:srgbClr val="A3A3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 testar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212080" y="352044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R$5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5212080" y="43434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00" dirty="0">
                <a:solidFill>
                  <a:srgbClr val="A3A3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1º mês</a:t>
            </a:r>
            <a:endParaRPr lang="en-US" sz="13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300" dirty="0">
                <a:solidFill>
                  <a:srgbClr val="A3A3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(no cartão)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458200" y="352044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4800" dirty="0"/>
          </a:p>
        </p:txBody>
      </p:sp>
      <p:sp>
        <p:nvSpPr>
          <p:cNvPr id="18" name="Text 16"/>
          <p:cNvSpPr/>
          <p:nvPr/>
        </p:nvSpPr>
        <p:spPr>
          <a:xfrm>
            <a:off x="8458200" y="43434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00" dirty="0">
                <a:solidFill>
                  <a:srgbClr val="A3A3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multa ou fidelidade</a:t>
            </a:r>
            <a:endParaRPr lang="en-US" sz="13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300" dirty="0">
                <a:solidFill>
                  <a:srgbClr val="A3A3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 cancelar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486400" y="-1371600"/>
            <a:ext cx="10972800" cy="10972800"/>
          </a:xfrm>
          <a:prstGeom prst="ellipse">
            <a:avLst/>
          </a:prstGeom>
          <a:solidFill>
            <a:srgbClr val="16A34A">
              <a:alpha val="61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-4800600" y="-685800"/>
            <a:ext cx="9601200" cy="9601200"/>
          </a:xfrm>
          <a:prstGeom prst="ellipse">
            <a:avLst/>
          </a:prstGeom>
          <a:solidFill>
            <a:srgbClr val="16A34A">
              <a:alpha val="73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-4114800" y="0"/>
            <a:ext cx="8229600" cy="8229600"/>
          </a:xfrm>
          <a:prstGeom prst="ellipse">
            <a:avLst/>
          </a:prstGeom>
          <a:solidFill>
            <a:srgbClr val="16A34A">
              <a:alpha val="86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-3429000" y="685800"/>
            <a:ext cx="6858000" cy="6858000"/>
          </a:xfrm>
          <a:prstGeom prst="ellipse">
            <a:avLst/>
          </a:prstGeom>
          <a:solidFill>
            <a:srgbClr val="16A34A">
              <a:alpha val="104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-2743200" y="1371600"/>
            <a:ext cx="5486400" cy="5486400"/>
          </a:xfrm>
          <a:prstGeom prst="ellipse">
            <a:avLst/>
          </a:prstGeom>
          <a:solidFill>
            <a:srgbClr val="16A34A">
              <a:alpha val="126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-2057400" y="2057400"/>
            <a:ext cx="4114800" cy="4114800"/>
          </a:xfrm>
          <a:prstGeom prst="ellipse">
            <a:avLst/>
          </a:prstGeom>
          <a:solidFill>
            <a:srgbClr val="16A34A">
              <a:alpha val="156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-1371600" y="2743200"/>
            <a:ext cx="2743200" cy="2743200"/>
          </a:xfrm>
          <a:prstGeom prst="ellipse">
            <a:avLst/>
          </a:prstGeom>
          <a:solidFill>
            <a:srgbClr val="16A34A">
              <a:alpha val="201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-768096" y="3346704"/>
            <a:ext cx="1536192" cy="1536192"/>
          </a:xfrm>
          <a:prstGeom prst="ellipse">
            <a:avLst/>
          </a:prstGeom>
          <a:solidFill>
            <a:srgbClr val="16A34A">
              <a:alpha val="266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822960" y="24688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A3A3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Você já viu o que a ORBI faz.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822960" y="32004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Agora, a proposta pra você.</a:t>
            </a:r>
            <a:endParaRPr lang="en-US" sz="4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0" y="-914400"/>
            <a:ext cx="9144000" cy="9144000"/>
          </a:xfrm>
          <a:prstGeom prst="ellipse">
            <a:avLst/>
          </a:prstGeom>
          <a:solidFill>
            <a:srgbClr val="16A34A">
              <a:alpha val="58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5692140" y="-342900"/>
            <a:ext cx="8001000" cy="8001000"/>
          </a:xfrm>
          <a:prstGeom prst="ellipse">
            <a:avLst/>
          </a:prstGeom>
          <a:solidFill>
            <a:srgbClr val="16A34A">
              <a:alpha val="7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6263640" y="228600"/>
            <a:ext cx="6858000" cy="6858000"/>
          </a:xfrm>
          <a:prstGeom prst="ellipse">
            <a:avLst/>
          </a:prstGeom>
          <a:solidFill>
            <a:srgbClr val="16A34A">
              <a:alpha val="83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6835140" y="800100"/>
            <a:ext cx="5715000" cy="5715000"/>
          </a:xfrm>
          <a:prstGeom prst="ellipse">
            <a:avLst/>
          </a:prstGeom>
          <a:solidFill>
            <a:srgbClr val="16A34A">
              <a:alpha val="101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7406640" y="1371600"/>
            <a:ext cx="4572000" cy="4572000"/>
          </a:xfrm>
          <a:prstGeom prst="ellipse">
            <a:avLst/>
          </a:prstGeom>
          <a:solidFill>
            <a:srgbClr val="16A34A">
              <a:alpha val="123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7978140" y="1943100"/>
            <a:ext cx="3429000" cy="3429000"/>
          </a:xfrm>
          <a:prstGeom prst="ellipse">
            <a:avLst/>
          </a:prstGeom>
          <a:solidFill>
            <a:srgbClr val="16A34A">
              <a:alpha val="153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8549640" y="2514600"/>
            <a:ext cx="2286000" cy="2286000"/>
          </a:xfrm>
          <a:prstGeom prst="ellipse">
            <a:avLst/>
          </a:prstGeom>
          <a:solidFill>
            <a:srgbClr val="16A34A">
              <a:alpha val="198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9052560" y="3017520"/>
            <a:ext cx="1280160" cy="1280160"/>
          </a:xfrm>
          <a:prstGeom prst="ellipse">
            <a:avLst/>
          </a:prstGeom>
          <a:solidFill>
            <a:srgbClr val="16A34A">
              <a:alpha val="263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822960" y="685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PROPOSTA DE PARCERIA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" y="1188720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Comece grátis.
</a:t>
            </a:r>
            <a:r>
              <a:rPr lang="en-US" sz="40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Fique pra sempre, se quiser.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822960" y="283464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A3A3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Você é um dos primeiros parceiros da ORBI. Como reconhecimento, a condição de entrada é diferente da tabela pública.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1737360"/>
            <a:ext cx="8412480" cy="8412480"/>
          </a:xfrm>
          <a:prstGeom prst="ellipse">
            <a:avLst/>
          </a:prstGeom>
          <a:solidFill>
            <a:srgbClr val="16A34A">
              <a:alpha val="58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-1851660" y="2263140"/>
            <a:ext cx="7360920" cy="7360920"/>
          </a:xfrm>
          <a:prstGeom prst="ellipse">
            <a:avLst/>
          </a:prstGeom>
          <a:solidFill>
            <a:srgbClr val="16A34A">
              <a:alpha val="7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-1325880" y="2788920"/>
            <a:ext cx="6309360" cy="6309360"/>
          </a:xfrm>
          <a:prstGeom prst="ellipse">
            <a:avLst/>
          </a:prstGeom>
          <a:solidFill>
            <a:srgbClr val="16A34A">
              <a:alpha val="83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-800100" y="3314700"/>
            <a:ext cx="5257800" cy="5257800"/>
          </a:xfrm>
          <a:prstGeom prst="ellipse">
            <a:avLst/>
          </a:prstGeom>
          <a:solidFill>
            <a:srgbClr val="16A34A">
              <a:alpha val="101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-274320" y="3840480"/>
            <a:ext cx="4206240" cy="4206240"/>
          </a:xfrm>
          <a:prstGeom prst="ellipse">
            <a:avLst/>
          </a:prstGeom>
          <a:solidFill>
            <a:srgbClr val="16A34A">
              <a:alpha val="123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251460" y="4366260"/>
            <a:ext cx="3154680" cy="3154680"/>
          </a:xfrm>
          <a:prstGeom prst="ellipse">
            <a:avLst/>
          </a:prstGeom>
          <a:solidFill>
            <a:srgbClr val="16A34A">
              <a:alpha val="153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777240" y="4892040"/>
            <a:ext cx="2103120" cy="2103120"/>
          </a:xfrm>
          <a:prstGeom prst="ellipse">
            <a:avLst/>
          </a:prstGeom>
          <a:solidFill>
            <a:srgbClr val="16A34A">
              <a:alpha val="198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1239926" y="5354726"/>
            <a:ext cx="1177747" cy="1177747"/>
          </a:xfrm>
          <a:prstGeom prst="ellipse">
            <a:avLst/>
          </a:prstGeom>
          <a:solidFill>
            <a:srgbClr val="16A34A">
              <a:alpha val="263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822960" y="685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FUNCIONA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1143000"/>
            <a:ext cx="9601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meses pra testar. Uma meta simples pra ficar de graça.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822960" y="2697480"/>
            <a:ext cx="502920" cy="502920"/>
          </a:xfrm>
          <a:prstGeom prst="ellipse">
            <a:avLst/>
          </a:prstGeom>
          <a:solidFill>
            <a:srgbClr val="16A34A">
              <a:alpha val="15000"/>
            </a:srgbClr>
          </a:solidFill>
          <a:ln w="1905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822960" y="2697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822960" y="338328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dias de teste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2960" y="3840480"/>
            <a:ext cx="2514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A3A3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Trial estendido, sem custo, pra você usar a ferramenta de verdade com sua base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566160" y="2697480"/>
            <a:ext cx="502920" cy="502920"/>
          </a:xfrm>
          <a:prstGeom prst="ellipse">
            <a:avLst/>
          </a:prstGeom>
          <a:solidFill>
            <a:srgbClr val="16A34A">
              <a:alpha val="15000"/>
            </a:srgbClr>
          </a:solidFill>
          <a:ln w="1905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3566160" y="2697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3566160" y="338328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 de desconto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566160" y="3840480"/>
            <a:ext cx="2514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A3A3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Depois do trial, você paga metade do valor da tabela — recorrente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09360" y="2697480"/>
            <a:ext cx="502920" cy="502920"/>
          </a:xfrm>
          <a:prstGeom prst="ellipse">
            <a:avLst/>
          </a:prstGeom>
          <a:solidFill>
            <a:srgbClr val="16A34A">
              <a:alpha val="15000"/>
            </a:srgbClr>
          </a:solidFill>
          <a:ln w="1905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6309360" y="2697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6309360" y="338328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Indique 15 treinadores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309360" y="3840480"/>
            <a:ext cx="2514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A3A3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você trouxer 15 outros treinadores pagantes pra ORBI nesses 60 dias...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052560" y="2697480"/>
            <a:ext cx="502920" cy="502920"/>
          </a:xfrm>
          <a:prstGeom prst="ellipse">
            <a:avLst/>
          </a:prstGeom>
          <a:solidFill>
            <a:srgbClr val="16A34A">
              <a:alpha val="15000"/>
            </a:srgbClr>
          </a:solidFill>
          <a:ln w="1905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9052560" y="2697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9052560" y="338328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Fica grátis pra sempre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052560" y="3840480"/>
            <a:ext cx="2514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A3A3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Sua conta vira vitalícia, 100% grátis — sem prazo pra acabar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63040" y="-914400"/>
            <a:ext cx="9144000" cy="9144000"/>
          </a:xfrm>
          <a:prstGeom prst="ellipse">
            <a:avLst/>
          </a:prstGeom>
          <a:solidFill>
            <a:srgbClr val="16A34A">
              <a:alpha val="58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2034540" y="-342900"/>
            <a:ext cx="8001000" cy="8001000"/>
          </a:xfrm>
          <a:prstGeom prst="ellipse">
            <a:avLst/>
          </a:prstGeom>
          <a:solidFill>
            <a:srgbClr val="16A34A">
              <a:alpha val="7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2606040" y="228600"/>
            <a:ext cx="6858000" cy="6858000"/>
          </a:xfrm>
          <a:prstGeom prst="ellipse">
            <a:avLst/>
          </a:prstGeom>
          <a:solidFill>
            <a:srgbClr val="16A34A">
              <a:alpha val="83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3177540" y="800100"/>
            <a:ext cx="5715000" cy="5715000"/>
          </a:xfrm>
          <a:prstGeom prst="ellipse">
            <a:avLst/>
          </a:prstGeom>
          <a:solidFill>
            <a:srgbClr val="16A34A">
              <a:alpha val="101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3749040" y="1371600"/>
            <a:ext cx="4572000" cy="4572000"/>
          </a:xfrm>
          <a:prstGeom prst="ellipse">
            <a:avLst/>
          </a:prstGeom>
          <a:solidFill>
            <a:srgbClr val="16A34A">
              <a:alpha val="123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4320540" y="1943100"/>
            <a:ext cx="3429000" cy="3429000"/>
          </a:xfrm>
          <a:prstGeom prst="ellipse">
            <a:avLst/>
          </a:prstGeom>
          <a:solidFill>
            <a:srgbClr val="16A34A">
              <a:alpha val="153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4892040" y="2514600"/>
            <a:ext cx="2286000" cy="2286000"/>
          </a:xfrm>
          <a:prstGeom prst="ellipse">
            <a:avLst/>
          </a:prstGeom>
          <a:solidFill>
            <a:srgbClr val="16A34A">
              <a:alpha val="198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5394960" y="3017520"/>
            <a:ext cx="1280160" cy="1280160"/>
          </a:xfrm>
          <a:prstGeom prst="ellipse">
            <a:avLst/>
          </a:prstGeom>
          <a:solidFill>
            <a:srgbClr val="16A34A">
              <a:alpha val="263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822960" y="685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META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1143000"/>
            <a:ext cx="9601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Simples de entender, simples de acompanhar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822960" y="274320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822960" y="356616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00" dirty="0">
                <a:solidFill>
                  <a:srgbClr val="A3A3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dias de trial</a:t>
            </a:r>
            <a:endParaRPr lang="en-US" sz="13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300" dirty="0">
                <a:solidFill>
                  <a:srgbClr val="A3A3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estendido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480560" y="274320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4480560" y="356616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00" dirty="0">
                <a:solidFill>
                  <a:srgbClr val="A3A3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 no plano,</a:t>
            </a:r>
            <a:endParaRPr lang="en-US" sz="13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300" dirty="0">
                <a:solidFill>
                  <a:srgbClr val="A3A3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recorrente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138160" y="274320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8138160" y="356616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00" dirty="0">
                <a:solidFill>
                  <a:srgbClr val="A3A3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treinadores indicados</a:t>
            </a:r>
            <a:endParaRPr lang="en-US" sz="13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300" dirty="0">
                <a:solidFill>
                  <a:srgbClr val="A3A3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grátis pra sempre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5120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bateu os 15? Sem problema — você continua com 50% off normalmente.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2286000"/>
            <a:ext cx="6400800" cy="6400800"/>
          </a:xfrm>
          <a:prstGeom prst="ellipse">
            <a:avLst/>
          </a:prstGeom>
          <a:solidFill>
            <a:srgbClr val="16A34A">
              <a:alpha val="7000"/>
            </a:srgbClr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" name="Image 0" descr="C:/Users/gabri/OneDrive/Documentos/PROJETOS CLAUDE/getshapetraining/public/logos/orbi-logo-horizontal-dark-h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685800"/>
            <a:ext cx="1481328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265176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Vamos começar?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822960" y="35204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Seu app, com sua marca, rodando em 1 dia.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903</Words>
  <Application>Microsoft Office PowerPoint</Application>
  <PresentationFormat>Widescreen</PresentationFormat>
  <Paragraphs>180</Paragraphs>
  <Slides>16</Slides>
  <Notes>16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18" baseType="lpstr"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Gabriela Gusmão</cp:lastModifiedBy>
  <cp:revision>1</cp:revision>
  <dcterms:created xsi:type="dcterms:W3CDTF">2026-08-20T20:36:07Z</dcterms:created>
  <dcterms:modified xsi:type="dcterms:W3CDTF">2026-08-20T20:45:52Z</dcterms:modified>
</cp:coreProperties>
</file>